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JASKARAN (intro, ~30s): Good [morning/afternoon], we're Group 1. Today we're presenting Phase 2 of our MLOps project: taking the student dropout prediction pipeline we built in Phase 1 and turning it into an actual served, monitored, self-retraining system. I'm Jaskaran, I led documentation and project coordination; my teammate Eric led the ML engineering and deployment work. We'll both be presenting and demoing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JASKARAN (~40s): Quick recap so Phase 2 makes sense. We're predicting whether a student drops out, stays enrolled, or graduates, using a public UCI dataset of 4,424 students. Our DVC pipeline has three stages -- prepare, train, evaluate -- and we tracked 7 MLflow experiments to land on a Random Forest that gets 76% accuracy and 0.70 macro-F1. The 'Enrolled' class is genuinely hard -- it's the smallest class and looks similar to both other outcomes. That's a real limitation we call out, not something we're hiding. Phase 2 is about taking that model and actually shipping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JASKARAN (~25s): Four things to cover: serving the model behind an API, containerizing and deploying it, automating the whole pipeline with CI/CD, and closing the loop with monitoring and automatic retraining. We'll finish with a live demo of the running API. Handing it to Eric for the architecture.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(~45s): Here's the full picture. Top row is the path from our DVC pipeline to a live URL: the trained model gets wrapped in a FastAPI service, containerized with Docker, and deployed to Render. That deploy is gated by GitHub Actions -- CI has to pass lint and tests before CD will even trigger the deploy hook. Bottom row is the part that makes this 'continuous' rather than a one-time deploy: every prediction the API makes gets logged, EvidentlyAI compares that live traffic against our training distribution, and if we see performance drop or real drift, a retrain gets triggered automatically -- but it always comes back as a pull request for a human to review, never an auto-merge.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(~35s): The API has five endpoints -- predict, batch predict, health, model-info, and a monitoring endpoint that exposes recent logged traffic. The detail I actually want to highlight: we didn't hand-write the input schema. scikit-learn remembers the exact column names a model was trained on, so we read those off the model object itself and build the API's validation schema from it. If prepare.py ever changes the feature set, the API automatically expects the new one -- it can't silently go stale.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(~35s): The container follows the same production-readiness practices from our Docker lab -- slim base image, non-root user, a real healthcheck endpoint. We deploy it to Render's free tier using a Blueprint file checked into the repo. One deliberate choice: Render's own auto-deploy is turned off. Deploys only happen through our own CD workflow, and only after CI has passed -- that's the actual live URL up on screen, and that's what we'll hit in the demo in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JASKARAN (~35s): Every push runs lint and tests. Tests use a synthetic model fixture, so CI never needs the real dataset. A Docker build validation runs after tests pass, and only on main does the CD workflow trigger an actual deploy -- and only if everything upstream succeeded. If a stage fails, nothing deploys, and Render just keeps serving the last good version. One thing we want to be upfront about: our lint job only checks our new Phase 2 code, not the Phase 1 source files, because those were already written and graded before this lint config existed -- reformatting them wasn't our call to make unilaterally.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drives / JASKARAN narrates (~2-3 min): We'll hit /health first to prove the deployed service is live, open /docs to show the interactive schema generated straight from the model, send a real /predict request and walk through the response, then run our drift-detection script with the simulate-drift flag so you can see an EvidentlyAI report actually flag a shifted feature. JASKARAN: while Eric drives, I'll narrate what each response means and tie it back to the architecture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(~35s): The core idea from Week 9 is that ML systems fail silently -- no stack trace, just quietly wrong predictions. Our drift script compares whatever the API has actually been seeing in production against the distribution it was trained on, using the standard statistical tests -- KS test per feature, PSI overall. In the demo run we just showed, two of five features were flagged, but the overall drift flag stayed conservative on purpose -- we don't want to fire an alert, and eventually a retrain, over one or two noisy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ERIC (~35s): Week 10 was clear that you shouldn't rely on just one trigger, so we combine three: a weekly schedule as a baseline, a performance check against our committed metrics, and the drift check from the previous slide. If any of those fire, the workflow reruns dvc repro, compares the new macro-F1 against what's currently on main, and only if it's at least as good does it open a pull request -- it never auto-merges. Our existing branch protection rule from Phase 1, one required review, becomes the safety net for automated retraining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JASKARAN (~35s): Week 11 covered Model Cards as a governance tool, so we wrote one -- intended use, training data, the full per-class performance table, our monitoring and rollback safeguards, and who owns the review. The part I want to spend actual time on is the limitation we're flagging rather than glossing over: we have demographic features in this dataset and we have not run a fairness audit across them. We're saying that plainly in the model card because a model card that only lists strengths isn't doing its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JASKARAN: To close -- we took a graded Phase 1 pipeline and made it a real, deployed, self-monitoring system, and we tried to be honest in this presentation about the corners we knowingly cut given the time and no cloud credentials, like the DVC remote and the fairness audit, rather than pretend they don't exist. ERIC: Those are exactly what we'd tackle next given more time. Happy to take questions on any part of the pipeline or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2011680"/>
            <a:ext cx="6400800" cy="6400800"/>
          </a:xfrm>
          <a:prstGeom prst="ellipse">
            <a:avLst/>
          </a:prstGeom>
          <a:solidFill>
            <a:srgbClr val="065A82">
              <a:alpha val="45000"/>
            </a:srgbClr>
          </a:solidFill>
          <a:ln/>
        </p:spPr>
      </p:sp>
      <p:sp>
        <p:nvSpPr>
          <p:cNvPr id="3" name="Shape 1"/>
          <p:cNvSpPr/>
          <p:nvPr/>
        </p:nvSpPr>
        <p:spPr>
          <a:xfrm>
            <a:off x="10607040" y="3291840"/>
            <a:ext cx="3840480" cy="3840480"/>
          </a:xfrm>
          <a:prstGeom prst="ellipse">
            <a:avLst/>
          </a:prstGeom>
          <a:solidFill>
            <a:srgbClr val="1C7293">
              <a:alpha val="55000"/>
            </a:srgbClr>
          </a:solidFill>
          <a:ln/>
        </p:spPr>
      </p:sp>
      <p:sp>
        <p:nvSpPr>
          <p:cNvPr id="4" name="Text 2"/>
          <p:cNvSpPr/>
          <p:nvPr/>
        </p:nvSpPr>
        <p:spPr>
          <a:xfrm>
            <a:off x="731520" y="1371600"/>
            <a:ext cx="73152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MAI201 · MLOPS · PHASE 2 (25%)</a:t>
            </a:r>
            <a:endParaRPr lang="en-US" sz="1300" dirty="0"/>
          </a:p>
        </p:txBody>
      </p:sp>
      <p:sp>
        <p:nvSpPr>
          <p:cNvPr id="5" name="Text 3"/>
          <p:cNvSpPr/>
          <p:nvPr/>
        </p:nvSpPr>
        <p:spPr>
          <a:xfrm>
            <a:off x="731520" y="1828800"/>
            <a:ext cx="8686800" cy="1828800"/>
          </a:xfrm>
          <a:prstGeom prst="rect">
            <a:avLst/>
          </a:prstGeom>
          <a:noFill/>
          <a:ln/>
        </p:spPr>
        <p:txBody>
          <a:bodyPr wrap="square" rtlCol="0" anchor="ctr"/>
          <a:lstStyle/>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Productionizing the</a:t>
            </a:r>
            <a:endParaRPr lang="en-US" sz="4200" dirty="0"/>
          </a:p>
          <a:p>
            <a:pPr indent="0" marL="0">
              <a:lnSpc>
                <a:spcPct val="105000"/>
              </a:lnSpc>
              <a:buNone/>
            </a:pPr>
            <a:r>
              <a:rPr lang="en-US" sz="4200" b="1" dirty="0">
                <a:solidFill>
                  <a:srgbClr val="FFFFFF"/>
                </a:solidFill>
                <a:latin typeface="Cambria" pitchFamily="34" charset="0"/>
                <a:ea typeface="Cambria" pitchFamily="34" charset="-122"/>
                <a:cs typeface="Cambria" pitchFamily="34" charset="-120"/>
              </a:rPr>
              <a:t>Student Dropout Predictor</a:t>
            </a:r>
            <a:endParaRPr lang="en-US" sz="4200" dirty="0"/>
          </a:p>
        </p:txBody>
      </p:sp>
      <p:sp>
        <p:nvSpPr>
          <p:cNvPr id="6" name="Text 4"/>
          <p:cNvSpPr/>
          <p:nvPr/>
        </p:nvSpPr>
        <p:spPr>
          <a:xfrm>
            <a:off x="731520" y="3611880"/>
            <a:ext cx="7772400" cy="54864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From a DVC/MLflow pipeline to a served, monitored, continuously-retrained API</a:t>
            </a:r>
            <a:endParaRPr lang="en-US" sz="1600" dirty="0"/>
          </a:p>
        </p:txBody>
      </p:sp>
      <p:sp>
        <p:nvSpPr>
          <p:cNvPr id="7" name="Shape 5"/>
          <p:cNvSpPr/>
          <p:nvPr/>
        </p:nvSpPr>
        <p:spPr>
          <a:xfrm>
            <a:off x="731520" y="4343400"/>
            <a:ext cx="3200400" cy="0"/>
          </a:xfrm>
          <a:prstGeom prst="line">
            <a:avLst/>
          </a:prstGeom>
          <a:noFill/>
          <a:ln w="25400">
            <a:solidFill>
              <a:srgbClr val="1C7293"/>
            </a:solidFill>
            <a:prstDash val="solid"/>
          </a:ln>
        </p:spPr>
      </p:sp>
      <p:sp>
        <p:nvSpPr>
          <p:cNvPr id="8" name="Text 6"/>
          <p:cNvSpPr/>
          <p:nvPr/>
        </p:nvSpPr>
        <p:spPr>
          <a:xfrm>
            <a:off x="731520" y="4572000"/>
            <a:ext cx="41148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Jaskaran Singh</a:t>
            </a:r>
            <a:endParaRPr lang="en-US" sz="1600" dirty="0"/>
          </a:p>
          <a:p>
            <a:pPr indent="0" marL="0">
              <a:buNone/>
            </a:pPr>
            <a:r>
              <a:rPr lang="en-US" sz="1300" dirty="0">
                <a:solidFill>
                  <a:srgbClr val="9FB3C8"/>
                </a:solidFill>
                <a:latin typeface="Calibri" pitchFamily="34" charset="0"/>
                <a:ea typeface="Calibri" pitchFamily="34" charset="-122"/>
                <a:cs typeface="Calibri" pitchFamily="34" charset="-120"/>
              </a:rPr>
              <a:t>Project Lead / Documentation Lead</a:t>
            </a:r>
            <a:endParaRPr lang="en-US" sz="1600" dirty="0"/>
          </a:p>
        </p:txBody>
      </p:sp>
      <p:sp>
        <p:nvSpPr>
          <p:cNvPr id="9" name="Text 7"/>
          <p:cNvSpPr/>
          <p:nvPr/>
        </p:nvSpPr>
        <p:spPr>
          <a:xfrm>
            <a:off x="4937760" y="4572000"/>
            <a:ext cx="41148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Eric Prakashbhai Rathod</a:t>
            </a:r>
            <a:endParaRPr lang="en-US" sz="1600" dirty="0"/>
          </a:p>
          <a:p>
            <a:pPr indent="0" marL="0">
              <a:buNone/>
            </a:pPr>
            <a:r>
              <a:rPr lang="en-US" sz="1300" dirty="0">
                <a:solidFill>
                  <a:srgbClr val="9FB3C8"/>
                </a:solidFill>
                <a:latin typeface="Calibri" pitchFamily="34" charset="0"/>
                <a:ea typeface="Calibri" pitchFamily="34" charset="-122"/>
                <a:cs typeface="Calibri" pitchFamily="34" charset="-120"/>
              </a:rPr>
              <a:t>ML Lead / Engineering Lead</a:t>
            </a:r>
            <a:endParaRPr lang="en-US" sz="1600" dirty="0"/>
          </a:p>
        </p:txBody>
      </p:sp>
      <p:sp>
        <p:nvSpPr>
          <p:cNvPr id="10" name="Text 8"/>
          <p:cNvSpPr/>
          <p:nvPr/>
        </p:nvSpPr>
        <p:spPr>
          <a:xfrm>
            <a:off x="731520" y="6126480"/>
            <a:ext cx="7315200" cy="365760"/>
          </a:xfrm>
          <a:prstGeom prst="rect">
            <a:avLst/>
          </a:prstGeom>
          <a:noFill/>
          <a:ln/>
        </p:spPr>
        <p:txBody>
          <a:bodyPr wrap="square" rtlCol="0" anchor="ctr"/>
          <a:lstStyle/>
          <a:p>
            <a:pPr indent="0" marL="0">
              <a:buNone/>
            </a:pPr>
            <a:r>
              <a:rPr lang="en-US" sz="1100" dirty="0">
                <a:solidFill>
                  <a:srgbClr val="6B7A88"/>
                </a:solidFill>
                <a:latin typeface="Calibri" pitchFamily="34" charset="0"/>
                <a:ea typeface="Calibri" pitchFamily="34" charset="-122"/>
                <a:cs typeface="Calibri" pitchFamily="34" charset="-120"/>
              </a:rPr>
              <a:t>github.com/gilljaskaran/mlops-student-dropout-pipeline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WHERE WE LEFT OFF</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Phase 1 Recap</a:t>
            </a:r>
            <a:endParaRPr lang="en-US" sz="3200" dirty="0"/>
          </a:p>
        </p:txBody>
      </p:sp>
      <p:sp>
        <p:nvSpPr>
          <p:cNvPr id="4" name="Shape 2"/>
          <p:cNvSpPr/>
          <p:nvPr/>
        </p:nvSpPr>
        <p:spPr>
          <a:xfrm>
            <a:off x="548640" y="1828800"/>
            <a:ext cx="1874520" cy="822960"/>
          </a:xfrm>
          <a:prstGeom prst="roundRect">
            <a:avLst>
              <a:gd name="adj" fmla="val 8889"/>
            </a:avLst>
          </a:prstGeom>
          <a:solidFill>
            <a:srgbClr val="F2F6F9"/>
          </a:solidFill>
          <a:ln w="12700">
            <a:solidFill>
              <a:srgbClr val="1C7293"/>
            </a:solidFill>
            <a:prstDash val="solid"/>
          </a:ln>
        </p:spPr>
      </p:sp>
      <p:sp>
        <p:nvSpPr>
          <p:cNvPr id="5" name="Text 3"/>
          <p:cNvSpPr/>
          <p:nvPr/>
        </p:nvSpPr>
        <p:spPr>
          <a:xfrm>
            <a:off x="548640" y="1828800"/>
            <a:ext cx="1874520" cy="822960"/>
          </a:xfrm>
          <a:prstGeom prst="rect">
            <a:avLst/>
          </a:prstGeom>
          <a:noFill/>
          <a:ln/>
        </p:spPr>
        <p:txBody>
          <a:bodyPr wrap="square" rtlCol="0" anchor="ctr"/>
          <a:lstStyle/>
          <a:p>
            <a:pPr algn="ctr" indent="0" marL="0">
              <a:buNone/>
            </a:pPr>
            <a:r>
              <a:rPr lang="en-US" sz="1200" b="1" dirty="0">
                <a:solidFill>
                  <a:srgbClr val="23303D"/>
                </a:solidFill>
                <a:latin typeface="Calibri" pitchFamily="34" charset="0"/>
                <a:ea typeface="Calibri" pitchFamily="34" charset="-122"/>
                <a:cs typeface="Calibri" pitchFamily="34" charset="-120"/>
              </a:rPr>
              <a:t>Raw Data</a:t>
            </a:r>
            <a:endParaRPr lang="en-US" sz="1200" dirty="0"/>
          </a:p>
          <a:p>
            <a:pPr algn="ctr" indent="0" marL="0">
              <a:buNone/>
            </a:pPr>
            <a:r>
              <a:rPr lang="en-US" sz="1200" b="1" dirty="0">
                <a:solidFill>
                  <a:srgbClr val="23303D"/>
                </a:solidFill>
                <a:latin typeface="Calibri" pitchFamily="34" charset="0"/>
                <a:ea typeface="Calibri" pitchFamily="34" charset="-122"/>
                <a:cs typeface="Calibri" pitchFamily="34" charset="-120"/>
              </a:rPr>
              <a:t>(UCI #697)</a:t>
            </a:r>
            <a:endParaRPr lang="en-US" sz="1200" dirty="0"/>
          </a:p>
        </p:txBody>
      </p:sp>
      <p:sp>
        <p:nvSpPr>
          <p:cNvPr id="6" name="Shape 4"/>
          <p:cNvSpPr/>
          <p:nvPr/>
        </p:nvSpPr>
        <p:spPr>
          <a:xfrm>
            <a:off x="2450592" y="2121408"/>
            <a:ext cx="265176" cy="237744"/>
          </a:xfrm>
          <a:prstGeom prst="rightArrow">
            <a:avLst/>
          </a:prstGeom>
          <a:solidFill>
            <a:srgbClr val="E8A33D"/>
          </a:solidFill>
          <a:ln/>
        </p:spPr>
      </p:sp>
      <p:sp>
        <p:nvSpPr>
          <p:cNvPr id="7" name="Shape 5"/>
          <p:cNvSpPr/>
          <p:nvPr/>
        </p:nvSpPr>
        <p:spPr>
          <a:xfrm>
            <a:off x="2743200" y="1828800"/>
            <a:ext cx="1874520" cy="822960"/>
          </a:xfrm>
          <a:prstGeom prst="roundRect">
            <a:avLst>
              <a:gd name="adj" fmla="val 8889"/>
            </a:avLst>
          </a:prstGeom>
          <a:solidFill>
            <a:srgbClr val="065A82"/>
          </a:solidFill>
          <a:ln w="12700">
            <a:solidFill>
              <a:srgbClr val="1C7293"/>
            </a:solidFill>
            <a:prstDash val="solid"/>
          </a:ln>
        </p:spPr>
      </p:sp>
      <p:sp>
        <p:nvSpPr>
          <p:cNvPr id="8" name="Text 6"/>
          <p:cNvSpPr/>
          <p:nvPr/>
        </p:nvSpPr>
        <p:spPr>
          <a:xfrm>
            <a:off x="2743200" y="1828800"/>
            <a:ext cx="1874520" cy="8229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DVC: prepare</a:t>
            </a:r>
            <a:endParaRPr lang="en-US" sz="1200" dirty="0"/>
          </a:p>
        </p:txBody>
      </p:sp>
      <p:sp>
        <p:nvSpPr>
          <p:cNvPr id="9" name="Shape 7"/>
          <p:cNvSpPr/>
          <p:nvPr/>
        </p:nvSpPr>
        <p:spPr>
          <a:xfrm>
            <a:off x="4645152" y="2121408"/>
            <a:ext cx="265176" cy="237744"/>
          </a:xfrm>
          <a:prstGeom prst="rightArrow">
            <a:avLst/>
          </a:prstGeom>
          <a:solidFill>
            <a:srgbClr val="E8A33D"/>
          </a:solidFill>
          <a:ln/>
        </p:spPr>
      </p:sp>
      <p:sp>
        <p:nvSpPr>
          <p:cNvPr id="10" name="Shape 8"/>
          <p:cNvSpPr/>
          <p:nvPr/>
        </p:nvSpPr>
        <p:spPr>
          <a:xfrm>
            <a:off x="4937760" y="1828800"/>
            <a:ext cx="1874520" cy="822960"/>
          </a:xfrm>
          <a:prstGeom prst="roundRect">
            <a:avLst>
              <a:gd name="adj" fmla="val 8889"/>
            </a:avLst>
          </a:prstGeom>
          <a:solidFill>
            <a:srgbClr val="065A82"/>
          </a:solidFill>
          <a:ln w="12700">
            <a:solidFill>
              <a:srgbClr val="1C7293"/>
            </a:solidFill>
            <a:prstDash val="solid"/>
          </a:ln>
        </p:spPr>
      </p:sp>
      <p:sp>
        <p:nvSpPr>
          <p:cNvPr id="11" name="Text 9"/>
          <p:cNvSpPr/>
          <p:nvPr/>
        </p:nvSpPr>
        <p:spPr>
          <a:xfrm>
            <a:off x="4937760" y="1828800"/>
            <a:ext cx="1874520" cy="8229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DVC: train</a:t>
            </a:r>
            <a:endParaRPr lang="en-US" sz="1200" dirty="0"/>
          </a:p>
        </p:txBody>
      </p:sp>
      <p:sp>
        <p:nvSpPr>
          <p:cNvPr id="12" name="Shape 10"/>
          <p:cNvSpPr/>
          <p:nvPr/>
        </p:nvSpPr>
        <p:spPr>
          <a:xfrm>
            <a:off x="6839712" y="2121408"/>
            <a:ext cx="265176" cy="237744"/>
          </a:xfrm>
          <a:prstGeom prst="rightArrow">
            <a:avLst/>
          </a:prstGeom>
          <a:solidFill>
            <a:srgbClr val="E8A33D"/>
          </a:solidFill>
          <a:ln/>
        </p:spPr>
      </p:sp>
      <p:sp>
        <p:nvSpPr>
          <p:cNvPr id="13" name="Shape 11"/>
          <p:cNvSpPr/>
          <p:nvPr/>
        </p:nvSpPr>
        <p:spPr>
          <a:xfrm>
            <a:off x="7132320" y="1828800"/>
            <a:ext cx="1874520" cy="822960"/>
          </a:xfrm>
          <a:prstGeom prst="roundRect">
            <a:avLst>
              <a:gd name="adj" fmla="val 8889"/>
            </a:avLst>
          </a:prstGeom>
          <a:solidFill>
            <a:srgbClr val="065A82"/>
          </a:solidFill>
          <a:ln w="12700">
            <a:solidFill>
              <a:srgbClr val="1C7293"/>
            </a:solidFill>
            <a:prstDash val="solid"/>
          </a:ln>
        </p:spPr>
      </p:sp>
      <p:sp>
        <p:nvSpPr>
          <p:cNvPr id="14" name="Text 12"/>
          <p:cNvSpPr/>
          <p:nvPr/>
        </p:nvSpPr>
        <p:spPr>
          <a:xfrm>
            <a:off x="7132320" y="1828800"/>
            <a:ext cx="1874520" cy="82296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DVC: evaluate</a:t>
            </a:r>
            <a:endParaRPr lang="en-US" sz="1200" dirty="0"/>
          </a:p>
        </p:txBody>
      </p:sp>
      <p:sp>
        <p:nvSpPr>
          <p:cNvPr id="15" name="Text 13"/>
          <p:cNvSpPr/>
          <p:nvPr/>
        </p:nvSpPr>
        <p:spPr>
          <a:xfrm>
            <a:off x="548640" y="2880360"/>
            <a:ext cx="10789920" cy="457200"/>
          </a:xfrm>
          <a:prstGeom prst="rect">
            <a:avLst/>
          </a:prstGeom>
          <a:noFill/>
          <a:ln/>
        </p:spPr>
        <p:txBody>
          <a:bodyPr wrap="square"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 MLflow experiment tracking: baseline Logistic Regression, Random Forest grid, XGBoost grid (7 runs total)</a:t>
            </a:r>
            <a:endParaRPr lang="en-US" sz="1300" dirty="0"/>
          </a:p>
        </p:txBody>
      </p:sp>
      <p:sp>
        <p:nvSpPr>
          <p:cNvPr id="16" name="Shape 14"/>
          <p:cNvSpPr/>
          <p:nvPr/>
        </p:nvSpPr>
        <p:spPr>
          <a:xfrm>
            <a:off x="548640" y="3657600"/>
            <a:ext cx="3520440" cy="1737360"/>
          </a:xfrm>
          <a:prstGeom prst="roundRect">
            <a:avLst>
              <a:gd name="adj" fmla="val 4211"/>
            </a:avLst>
          </a:prstGeom>
          <a:solidFill>
            <a:srgbClr val="F2F6F9"/>
          </a:solidFill>
          <a:ln/>
        </p:spPr>
      </p:sp>
      <p:sp>
        <p:nvSpPr>
          <p:cNvPr id="17" name="Text 15"/>
          <p:cNvSpPr/>
          <p:nvPr/>
        </p:nvSpPr>
        <p:spPr>
          <a:xfrm>
            <a:off x="548640" y="3794760"/>
            <a:ext cx="3520440" cy="822960"/>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4,424</a:t>
            </a:r>
            <a:endParaRPr lang="en-US" sz="3400" dirty="0"/>
          </a:p>
        </p:txBody>
      </p:sp>
      <p:sp>
        <p:nvSpPr>
          <p:cNvPr id="18" name="Text 16"/>
          <p:cNvSpPr/>
          <p:nvPr/>
        </p:nvSpPr>
        <p:spPr>
          <a:xfrm>
            <a:off x="731520" y="4617720"/>
            <a:ext cx="3154680" cy="685800"/>
          </a:xfrm>
          <a:prstGeom prst="rect">
            <a:avLst/>
          </a:prstGeom>
          <a:noFill/>
          <a:ln/>
        </p:spPr>
        <p:txBody>
          <a:bodyPr wrap="square"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students, 36 features</a:t>
            </a:r>
            <a:endParaRPr lang="en-US" sz="1200" dirty="0"/>
          </a:p>
          <a:p>
            <a:pPr algn="ctr" indent="0" marL="0">
              <a:buNone/>
            </a:pPr>
            <a:r>
              <a:rPr lang="en-US" sz="1200" dirty="0">
                <a:solidFill>
                  <a:srgbClr val="6B7A88"/>
                </a:solidFill>
                <a:latin typeface="Calibri" pitchFamily="34" charset="0"/>
                <a:ea typeface="Calibri" pitchFamily="34" charset="-122"/>
                <a:cs typeface="Calibri" pitchFamily="34" charset="-120"/>
              </a:rPr>
              <a:t>(UCI ML Repo #697)</a:t>
            </a:r>
            <a:endParaRPr lang="en-US" sz="1200" dirty="0"/>
          </a:p>
        </p:txBody>
      </p:sp>
      <p:sp>
        <p:nvSpPr>
          <p:cNvPr id="19" name="Shape 17"/>
          <p:cNvSpPr/>
          <p:nvPr/>
        </p:nvSpPr>
        <p:spPr>
          <a:xfrm>
            <a:off x="4251960" y="3657600"/>
            <a:ext cx="3520440" cy="1737360"/>
          </a:xfrm>
          <a:prstGeom prst="roundRect">
            <a:avLst>
              <a:gd name="adj" fmla="val 4211"/>
            </a:avLst>
          </a:prstGeom>
          <a:solidFill>
            <a:srgbClr val="F2F6F9"/>
          </a:solidFill>
          <a:ln/>
        </p:spPr>
      </p:sp>
      <p:sp>
        <p:nvSpPr>
          <p:cNvPr id="20" name="Text 18"/>
          <p:cNvSpPr/>
          <p:nvPr/>
        </p:nvSpPr>
        <p:spPr>
          <a:xfrm>
            <a:off x="4251960" y="3794760"/>
            <a:ext cx="3520440" cy="822960"/>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76.05%</a:t>
            </a:r>
            <a:endParaRPr lang="en-US" sz="3400" dirty="0"/>
          </a:p>
        </p:txBody>
      </p:sp>
      <p:sp>
        <p:nvSpPr>
          <p:cNvPr id="21" name="Text 19"/>
          <p:cNvSpPr/>
          <p:nvPr/>
        </p:nvSpPr>
        <p:spPr>
          <a:xfrm>
            <a:off x="4434840" y="4617720"/>
            <a:ext cx="3154680" cy="685800"/>
          </a:xfrm>
          <a:prstGeom prst="rect">
            <a:avLst/>
          </a:prstGeom>
          <a:noFill/>
          <a:ln/>
        </p:spPr>
        <p:txBody>
          <a:bodyPr wrap="square"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test-set accuracy</a:t>
            </a:r>
            <a:endParaRPr lang="en-US" sz="1200" dirty="0"/>
          </a:p>
          <a:p>
            <a:pPr algn="ctr" indent="0" marL="0">
              <a:buNone/>
            </a:pPr>
            <a:r>
              <a:rPr lang="en-US" sz="1200" dirty="0">
                <a:solidFill>
                  <a:srgbClr val="6B7A88"/>
                </a:solidFill>
                <a:latin typeface="Calibri" pitchFamily="34" charset="0"/>
                <a:ea typeface="Calibri" pitchFamily="34" charset="-122"/>
                <a:cs typeface="Calibri" pitchFamily="34" charset="-120"/>
              </a:rPr>
              <a:t>(RandomForest, 400 trees)</a:t>
            </a:r>
            <a:endParaRPr lang="en-US" sz="1200" dirty="0"/>
          </a:p>
        </p:txBody>
      </p:sp>
      <p:sp>
        <p:nvSpPr>
          <p:cNvPr id="22" name="Shape 20"/>
          <p:cNvSpPr/>
          <p:nvPr/>
        </p:nvSpPr>
        <p:spPr>
          <a:xfrm>
            <a:off x="7955280" y="3657600"/>
            <a:ext cx="3520440" cy="1737360"/>
          </a:xfrm>
          <a:prstGeom prst="roundRect">
            <a:avLst>
              <a:gd name="adj" fmla="val 4211"/>
            </a:avLst>
          </a:prstGeom>
          <a:solidFill>
            <a:srgbClr val="F2F6F9"/>
          </a:solidFill>
          <a:ln/>
        </p:spPr>
      </p:sp>
      <p:sp>
        <p:nvSpPr>
          <p:cNvPr id="23" name="Text 21"/>
          <p:cNvSpPr/>
          <p:nvPr/>
        </p:nvSpPr>
        <p:spPr>
          <a:xfrm>
            <a:off x="7955280" y="3794760"/>
            <a:ext cx="3520440" cy="822960"/>
          </a:xfrm>
          <a:prstGeom prst="rect">
            <a:avLst/>
          </a:prstGeom>
          <a:noFill/>
          <a:ln/>
        </p:spPr>
        <p:txBody>
          <a:bodyPr wrap="square" rtlCol="0" anchor="ctr"/>
          <a:lstStyle/>
          <a:p>
            <a:pPr algn="ctr" indent="0" marL="0">
              <a:buNone/>
            </a:pPr>
            <a:r>
              <a:rPr lang="en-US" sz="3400" b="1" dirty="0">
                <a:solidFill>
                  <a:srgbClr val="065A82"/>
                </a:solidFill>
                <a:latin typeface="Cambria" pitchFamily="34" charset="0"/>
                <a:ea typeface="Cambria" pitchFamily="34" charset="-122"/>
                <a:cs typeface="Cambria" pitchFamily="34" charset="-120"/>
              </a:rPr>
              <a:t>0.70</a:t>
            </a:r>
            <a:endParaRPr lang="en-US" sz="3400" dirty="0"/>
          </a:p>
        </p:txBody>
      </p:sp>
      <p:sp>
        <p:nvSpPr>
          <p:cNvPr id="24" name="Text 22"/>
          <p:cNvSpPr/>
          <p:nvPr/>
        </p:nvSpPr>
        <p:spPr>
          <a:xfrm>
            <a:off x="8138160" y="4617720"/>
            <a:ext cx="3154680" cy="685800"/>
          </a:xfrm>
          <a:prstGeom prst="rect">
            <a:avLst/>
          </a:prstGeom>
          <a:noFill/>
          <a:ln/>
        </p:spPr>
        <p:txBody>
          <a:bodyPr wrap="square" rtlCol="0" anchor="ctr"/>
          <a:lstStyle/>
          <a:p>
            <a:pPr algn="ctr" indent="0" marL="0">
              <a:buNone/>
            </a:pPr>
            <a:r>
              <a:rPr lang="en-US" sz="1200" dirty="0">
                <a:solidFill>
                  <a:srgbClr val="6B7A88"/>
                </a:solidFill>
                <a:latin typeface="Calibri" pitchFamily="34" charset="0"/>
                <a:ea typeface="Calibri" pitchFamily="34" charset="-122"/>
                <a:cs typeface="Calibri" pitchFamily="34" charset="-120"/>
              </a:rPr>
              <a:t>macro F1</a:t>
            </a:r>
            <a:endParaRPr lang="en-US" sz="1200" dirty="0"/>
          </a:p>
          <a:p>
            <a:pPr algn="ctr" indent="0" marL="0">
              <a:buNone/>
            </a:pPr>
            <a:r>
              <a:rPr lang="en-US" sz="1200" dirty="0">
                <a:solidFill>
                  <a:srgbClr val="6B7A88"/>
                </a:solidFill>
                <a:latin typeface="Calibri" pitchFamily="34" charset="0"/>
                <a:ea typeface="Calibri" pitchFamily="34" charset="-122"/>
                <a:cs typeface="Calibri" pitchFamily="34" charset="-120"/>
              </a:rPr>
              <a:t>(imbalanced 3-class target)</a:t>
            </a:r>
            <a:endParaRPr lang="en-US" sz="1200" dirty="0"/>
          </a:p>
        </p:txBody>
      </p:sp>
      <p:sp>
        <p:nvSpPr>
          <p:cNvPr id="25" name="Text 23"/>
          <p:cNvSpPr/>
          <p:nvPr/>
        </p:nvSpPr>
        <p:spPr>
          <a:xfrm>
            <a:off x="548640" y="5577840"/>
            <a:ext cx="10789920" cy="365760"/>
          </a:xfrm>
          <a:prstGeom prst="rect">
            <a:avLst/>
          </a:prstGeom>
          <a:noFill/>
          <a:ln/>
        </p:spPr>
        <p:txBody>
          <a:bodyPr wrap="square" rtlCol="0" anchor="ctr"/>
          <a:lstStyle/>
          <a:p>
            <a:pPr indent="0" marL="0">
              <a:buNone/>
            </a:pPr>
            <a:r>
              <a:rPr lang="en-US" sz="1200" i="1" dirty="0">
                <a:solidFill>
                  <a:srgbClr val="6B7A88"/>
                </a:solidFill>
                <a:latin typeface="Calibri" pitchFamily="34" charset="0"/>
                <a:ea typeface="Calibri" pitchFamily="34" charset="-122"/>
                <a:cs typeface="Calibri" pitchFamily="34" charset="-120"/>
              </a:rPr>
              <a:t>Dropout / Enrolled / Graduate -- "Enrolled" is the hard class (18% of data, gets confused both ways)</a:t>
            </a:r>
            <a:endParaRPr lang="en-US" sz="1200" dirty="0"/>
          </a:p>
        </p:txBody>
      </p:sp>
      <p:sp>
        <p:nvSpPr>
          <p:cNvPr id="26" name="Text 24"/>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2</a:t>
            </a:r>
            <a:endParaRPr lang="en-US" sz="1000" dirty="0"/>
          </a:p>
        </p:txBody>
      </p:sp>
      <p:sp>
        <p:nvSpPr>
          <p:cNvPr id="27" name="Text 25"/>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Jaskaran Singh  </a:t>
            </a:r>
            <a:pPr algn="l" indent="0" marL="0">
              <a:buNone/>
            </a:pPr>
            <a:r>
              <a:rPr lang="en-US" sz="1100" i="1" dirty="0">
                <a:solidFill>
                  <a:srgbClr val="6B7A88"/>
                </a:solidFill>
                <a:latin typeface="Calibri" pitchFamily="34" charset="0"/>
                <a:ea typeface="Calibri" pitchFamily="34" charset="-122"/>
                <a:cs typeface="Calibri" pitchFamily="34" charset="-120"/>
              </a:rPr>
              <a:t>Project Lead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TODAY'S AGENDA</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From Notebook to Production</a:t>
            </a:r>
            <a:endParaRPr lang="en-US" sz="3200" dirty="0"/>
          </a:p>
        </p:txBody>
      </p:sp>
      <p:sp>
        <p:nvSpPr>
          <p:cNvPr id="4" name="Shape 2"/>
          <p:cNvSpPr/>
          <p:nvPr/>
        </p:nvSpPr>
        <p:spPr>
          <a:xfrm>
            <a:off x="548640" y="1783080"/>
            <a:ext cx="731520" cy="731520"/>
          </a:xfrm>
          <a:prstGeom prst="ellipse">
            <a:avLst/>
          </a:prstGeom>
          <a:solidFill>
            <a:srgbClr val="065A82"/>
          </a:solidFill>
          <a:ln/>
        </p:spPr>
      </p:sp>
      <p:sp>
        <p:nvSpPr>
          <p:cNvPr id="5" name="Text 3"/>
          <p:cNvSpPr/>
          <p:nvPr/>
        </p:nvSpPr>
        <p:spPr>
          <a:xfrm>
            <a:off x="548640" y="1783080"/>
            <a:ext cx="731520" cy="73152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01</a:t>
            </a:r>
            <a:endParaRPr lang="en-US" sz="1900" dirty="0"/>
          </a:p>
        </p:txBody>
      </p:sp>
      <p:sp>
        <p:nvSpPr>
          <p:cNvPr id="6" name="Text 4"/>
          <p:cNvSpPr/>
          <p:nvPr/>
        </p:nvSpPr>
        <p:spPr>
          <a:xfrm>
            <a:off x="1508760" y="1764792"/>
            <a:ext cx="4754880" cy="365760"/>
          </a:xfrm>
          <a:prstGeom prst="rect">
            <a:avLst/>
          </a:prstGeom>
          <a:noFill/>
          <a:ln/>
        </p:spPr>
        <p:txBody>
          <a:bodyPr wrap="square"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Serve</a:t>
            </a:r>
            <a:endParaRPr lang="en-US" sz="1700" dirty="0"/>
          </a:p>
        </p:txBody>
      </p:sp>
      <p:sp>
        <p:nvSpPr>
          <p:cNvPr id="7" name="Text 5"/>
          <p:cNvSpPr/>
          <p:nvPr/>
        </p:nvSpPr>
        <p:spPr>
          <a:xfrm>
            <a:off x="1508760" y="2130552"/>
            <a:ext cx="8961120" cy="347472"/>
          </a:xfrm>
          <a:prstGeom prst="rect">
            <a:avLst/>
          </a:prstGeom>
          <a:noFill/>
          <a:ln/>
        </p:spPr>
        <p:txBody>
          <a:bodyPr wrap="square" rtlCol="0" anchor="ctr"/>
          <a:lstStyle/>
          <a:p>
            <a:pPr indent="0" marL="0">
              <a:buNone/>
            </a:pPr>
            <a:r>
              <a:rPr lang="en-US" sz="1250" dirty="0">
                <a:solidFill>
                  <a:srgbClr val="6B7A88"/>
                </a:solidFill>
                <a:latin typeface="Calibri" pitchFamily="34" charset="0"/>
                <a:ea typeface="Calibri" pitchFamily="34" charset="-122"/>
                <a:cs typeface="Calibri" pitchFamily="34" charset="-120"/>
              </a:rPr>
              <a:t>FastAPI endpoint wrapping the trained model</a:t>
            </a:r>
            <a:endParaRPr lang="en-US" sz="1250" dirty="0"/>
          </a:p>
        </p:txBody>
      </p:sp>
      <p:sp>
        <p:nvSpPr>
          <p:cNvPr id="8" name="Shape 6"/>
          <p:cNvSpPr/>
          <p:nvPr/>
        </p:nvSpPr>
        <p:spPr>
          <a:xfrm>
            <a:off x="548640" y="2724912"/>
            <a:ext cx="731520" cy="731520"/>
          </a:xfrm>
          <a:prstGeom prst="ellipse">
            <a:avLst/>
          </a:prstGeom>
          <a:solidFill>
            <a:srgbClr val="065A82"/>
          </a:solidFill>
          <a:ln/>
        </p:spPr>
      </p:sp>
      <p:sp>
        <p:nvSpPr>
          <p:cNvPr id="9" name="Text 7"/>
          <p:cNvSpPr/>
          <p:nvPr/>
        </p:nvSpPr>
        <p:spPr>
          <a:xfrm>
            <a:off x="548640" y="2724912"/>
            <a:ext cx="731520" cy="73152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02</a:t>
            </a:r>
            <a:endParaRPr lang="en-US" sz="1900" dirty="0"/>
          </a:p>
        </p:txBody>
      </p:sp>
      <p:sp>
        <p:nvSpPr>
          <p:cNvPr id="10" name="Text 8"/>
          <p:cNvSpPr/>
          <p:nvPr/>
        </p:nvSpPr>
        <p:spPr>
          <a:xfrm>
            <a:off x="1508760" y="2706624"/>
            <a:ext cx="4754880" cy="365760"/>
          </a:xfrm>
          <a:prstGeom prst="rect">
            <a:avLst/>
          </a:prstGeom>
          <a:noFill/>
          <a:ln/>
        </p:spPr>
        <p:txBody>
          <a:bodyPr wrap="square"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Containerize &amp; Deploy</a:t>
            </a:r>
            <a:endParaRPr lang="en-US" sz="1700" dirty="0"/>
          </a:p>
        </p:txBody>
      </p:sp>
      <p:sp>
        <p:nvSpPr>
          <p:cNvPr id="11" name="Text 9"/>
          <p:cNvSpPr/>
          <p:nvPr/>
        </p:nvSpPr>
        <p:spPr>
          <a:xfrm>
            <a:off x="1508760" y="3072384"/>
            <a:ext cx="8961120" cy="347472"/>
          </a:xfrm>
          <a:prstGeom prst="rect">
            <a:avLst/>
          </a:prstGeom>
          <a:noFill/>
          <a:ln/>
        </p:spPr>
        <p:txBody>
          <a:bodyPr wrap="square" rtlCol="0" anchor="ctr"/>
          <a:lstStyle/>
          <a:p>
            <a:pPr indent="0" marL="0">
              <a:buNone/>
            </a:pPr>
            <a:r>
              <a:rPr lang="en-US" sz="1250" dirty="0">
                <a:solidFill>
                  <a:srgbClr val="6B7A88"/>
                </a:solidFill>
                <a:latin typeface="Calibri" pitchFamily="34" charset="0"/>
                <a:ea typeface="Calibri" pitchFamily="34" charset="-122"/>
                <a:cs typeface="Calibri" pitchFamily="34" charset="-120"/>
              </a:rPr>
              <a:t>Docker + a live public API on Render</a:t>
            </a:r>
            <a:endParaRPr lang="en-US" sz="1250" dirty="0"/>
          </a:p>
        </p:txBody>
      </p:sp>
      <p:sp>
        <p:nvSpPr>
          <p:cNvPr id="12" name="Shape 10"/>
          <p:cNvSpPr/>
          <p:nvPr/>
        </p:nvSpPr>
        <p:spPr>
          <a:xfrm>
            <a:off x="548640" y="3666744"/>
            <a:ext cx="731520" cy="731520"/>
          </a:xfrm>
          <a:prstGeom prst="ellipse">
            <a:avLst/>
          </a:prstGeom>
          <a:solidFill>
            <a:srgbClr val="065A82"/>
          </a:solidFill>
          <a:ln/>
        </p:spPr>
      </p:sp>
      <p:sp>
        <p:nvSpPr>
          <p:cNvPr id="13" name="Text 11"/>
          <p:cNvSpPr/>
          <p:nvPr/>
        </p:nvSpPr>
        <p:spPr>
          <a:xfrm>
            <a:off x="548640" y="3666744"/>
            <a:ext cx="731520" cy="73152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03</a:t>
            </a:r>
            <a:endParaRPr lang="en-US" sz="1900" dirty="0"/>
          </a:p>
        </p:txBody>
      </p:sp>
      <p:sp>
        <p:nvSpPr>
          <p:cNvPr id="14" name="Text 12"/>
          <p:cNvSpPr/>
          <p:nvPr/>
        </p:nvSpPr>
        <p:spPr>
          <a:xfrm>
            <a:off x="1508760" y="3648456"/>
            <a:ext cx="4754880" cy="365760"/>
          </a:xfrm>
          <a:prstGeom prst="rect">
            <a:avLst/>
          </a:prstGeom>
          <a:noFill/>
          <a:ln/>
        </p:spPr>
        <p:txBody>
          <a:bodyPr wrap="square"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Automate</a:t>
            </a:r>
            <a:endParaRPr lang="en-US" sz="1700" dirty="0"/>
          </a:p>
        </p:txBody>
      </p:sp>
      <p:sp>
        <p:nvSpPr>
          <p:cNvPr id="15" name="Text 13"/>
          <p:cNvSpPr/>
          <p:nvPr/>
        </p:nvSpPr>
        <p:spPr>
          <a:xfrm>
            <a:off x="1508760" y="4014216"/>
            <a:ext cx="8961120" cy="347472"/>
          </a:xfrm>
          <a:prstGeom prst="rect">
            <a:avLst/>
          </a:prstGeom>
          <a:noFill/>
          <a:ln/>
        </p:spPr>
        <p:txBody>
          <a:bodyPr wrap="square" rtlCol="0" anchor="ctr"/>
          <a:lstStyle/>
          <a:p>
            <a:pPr indent="0" marL="0">
              <a:buNone/>
            </a:pPr>
            <a:r>
              <a:rPr lang="en-US" sz="1250" dirty="0">
                <a:solidFill>
                  <a:srgbClr val="6B7A88"/>
                </a:solidFill>
                <a:latin typeface="Calibri" pitchFamily="34" charset="0"/>
                <a:ea typeface="Calibri" pitchFamily="34" charset="-122"/>
                <a:cs typeface="Calibri" pitchFamily="34" charset="-120"/>
              </a:rPr>
              <a:t>GitHub Actions: lint, test, gated deploy</a:t>
            </a:r>
            <a:endParaRPr lang="en-US" sz="1250" dirty="0"/>
          </a:p>
        </p:txBody>
      </p:sp>
      <p:sp>
        <p:nvSpPr>
          <p:cNvPr id="16" name="Shape 14"/>
          <p:cNvSpPr/>
          <p:nvPr/>
        </p:nvSpPr>
        <p:spPr>
          <a:xfrm>
            <a:off x="548640" y="4608576"/>
            <a:ext cx="731520" cy="731520"/>
          </a:xfrm>
          <a:prstGeom prst="ellipse">
            <a:avLst/>
          </a:prstGeom>
          <a:solidFill>
            <a:srgbClr val="065A82"/>
          </a:solidFill>
          <a:ln/>
        </p:spPr>
      </p:sp>
      <p:sp>
        <p:nvSpPr>
          <p:cNvPr id="17" name="Text 15"/>
          <p:cNvSpPr/>
          <p:nvPr/>
        </p:nvSpPr>
        <p:spPr>
          <a:xfrm>
            <a:off x="548640" y="4608576"/>
            <a:ext cx="731520" cy="731520"/>
          </a:xfrm>
          <a:prstGeom prst="rect">
            <a:avLst/>
          </a:prstGeom>
          <a:noFill/>
          <a:ln/>
        </p:spPr>
        <p:txBody>
          <a:bodyPr wrap="square"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04</a:t>
            </a:r>
            <a:endParaRPr lang="en-US" sz="1900" dirty="0"/>
          </a:p>
        </p:txBody>
      </p:sp>
      <p:sp>
        <p:nvSpPr>
          <p:cNvPr id="18" name="Text 16"/>
          <p:cNvSpPr/>
          <p:nvPr/>
        </p:nvSpPr>
        <p:spPr>
          <a:xfrm>
            <a:off x="1508760" y="4590288"/>
            <a:ext cx="4754880" cy="365760"/>
          </a:xfrm>
          <a:prstGeom prst="rect">
            <a:avLst/>
          </a:prstGeom>
          <a:noFill/>
          <a:ln/>
        </p:spPr>
        <p:txBody>
          <a:bodyPr wrap="square" rtlCol="0" anchor="ctr"/>
          <a:lstStyle/>
          <a:p>
            <a:pPr indent="0" marL="0">
              <a:buNone/>
            </a:pPr>
            <a:r>
              <a:rPr lang="en-US" sz="1700" b="1" dirty="0">
                <a:solidFill>
                  <a:srgbClr val="0B2545"/>
                </a:solidFill>
                <a:latin typeface="Calibri" pitchFamily="34" charset="0"/>
                <a:ea typeface="Calibri" pitchFamily="34" charset="-122"/>
                <a:cs typeface="Calibri" pitchFamily="34" charset="-120"/>
              </a:rPr>
              <a:t>Monitor &amp; Retrain</a:t>
            </a:r>
            <a:endParaRPr lang="en-US" sz="1700" dirty="0"/>
          </a:p>
        </p:txBody>
      </p:sp>
      <p:sp>
        <p:nvSpPr>
          <p:cNvPr id="19" name="Text 17"/>
          <p:cNvSpPr/>
          <p:nvPr/>
        </p:nvSpPr>
        <p:spPr>
          <a:xfrm>
            <a:off x="1508760" y="4956048"/>
            <a:ext cx="8961120" cy="347472"/>
          </a:xfrm>
          <a:prstGeom prst="rect">
            <a:avLst/>
          </a:prstGeom>
          <a:noFill/>
          <a:ln/>
        </p:spPr>
        <p:txBody>
          <a:bodyPr wrap="square" rtlCol="0" anchor="ctr"/>
          <a:lstStyle/>
          <a:p>
            <a:pPr indent="0" marL="0">
              <a:buNone/>
            </a:pPr>
            <a:r>
              <a:rPr lang="en-US" sz="1250" dirty="0">
                <a:solidFill>
                  <a:srgbClr val="6B7A88"/>
                </a:solidFill>
                <a:latin typeface="Calibri" pitchFamily="34" charset="0"/>
                <a:ea typeface="Calibri" pitchFamily="34" charset="-122"/>
                <a:cs typeface="Calibri" pitchFamily="34" charset="-120"/>
              </a:rPr>
              <a:t>EvidentlyAI drift detection + a Continuous Training loop</a:t>
            </a:r>
            <a:endParaRPr lang="en-US" sz="1250" dirty="0"/>
          </a:p>
        </p:txBody>
      </p:sp>
      <p:sp>
        <p:nvSpPr>
          <p:cNvPr id="20" name="Text 18"/>
          <p:cNvSpPr/>
          <p:nvPr/>
        </p:nvSpPr>
        <p:spPr>
          <a:xfrm>
            <a:off x="548640" y="5623560"/>
            <a:ext cx="8229600" cy="365760"/>
          </a:xfrm>
          <a:prstGeom prst="rect">
            <a:avLst/>
          </a:prstGeom>
          <a:noFill/>
          <a:ln/>
        </p:spPr>
        <p:txBody>
          <a:bodyPr wrap="square" rtlCol="0" anchor="ctr"/>
          <a:lstStyle/>
          <a:p>
            <a:pPr indent="0" marL="0">
              <a:buNone/>
            </a:pPr>
            <a:r>
              <a:rPr lang="en-US" sz="1300" b="1" i="1" dirty="0">
                <a:solidFill>
                  <a:srgbClr val="E8A33D"/>
                </a:solidFill>
                <a:latin typeface="Calibri" pitchFamily="34" charset="0"/>
                <a:ea typeface="Calibri" pitchFamily="34" charset="-122"/>
                <a:cs typeface="Calibri" pitchFamily="34" charset="-120"/>
              </a:rPr>
              <a:t>Then: a live demo of the deployed API.</a:t>
            </a:r>
            <a:endParaRPr lang="en-US" sz="1300" dirty="0"/>
          </a:p>
        </p:txBody>
      </p:sp>
      <p:sp>
        <p:nvSpPr>
          <p:cNvPr id="21" name="Text 19"/>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3</a:t>
            </a:r>
            <a:endParaRPr lang="en-US" sz="1000" dirty="0"/>
          </a:p>
        </p:txBody>
      </p:sp>
      <p:sp>
        <p:nvSpPr>
          <p:cNvPr id="22" name="Text 20"/>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Jaskaran Singh  </a:t>
            </a:r>
            <a:pPr algn="l" indent="0" marL="0">
              <a:buNone/>
            </a:pPr>
            <a:r>
              <a:rPr lang="en-US" sz="1100" i="1" dirty="0">
                <a:solidFill>
                  <a:srgbClr val="6B7A88"/>
                </a:solidFill>
                <a:latin typeface="Calibri" pitchFamily="34" charset="0"/>
                <a:ea typeface="Calibri" pitchFamily="34" charset="-122"/>
                <a:cs typeface="Calibri" pitchFamily="34" charset="-120"/>
              </a:rPr>
              <a:t>Project Lead</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SYSTEM DESIGN</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Phase 2 Architecture</a:t>
            </a:r>
            <a:endParaRPr lang="en-US" sz="3200" dirty="0"/>
          </a:p>
        </p:txBody>
      </p:sp>
      <p:sp>
        <p:nvSpPr>
          <p:cNvPr id="4" name="Shape 2"/>
          <p:cNvSpPr/>
          <p:nvPr/>
        </p:nvSpPr>
        <p:spPr>
          <a:xfrm>
            <a:off x="457200" y="1920240"/>
            <a:ext cx="2084832" cy="960120"/>
          </a:xfrm>
          <a:prstGeom prst="roundRect">
            <a:avLst>
              <a:gd name="adj" fmla="val 7619"/>
            </a:avLst>
          </a:prstGeom>
          <a:solidFill>
            <a:srgbClr val="065A82"/>
          </a:solidFill>
          <a:ln/>
        </p:spPr>
      </p:sp>
      <p:sp>
        <p:nvSpPr>
          <p:cNvPr id="5" name="Text 3"/>
          <p:cNvSpPr/>
          <p:nvPr/>
        </p:nvSpPr>
        <p:spPr>
          <a:xfrm>
            <a:off x="457200" y="1993392"/>
            <a:ext cx="2084832"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DVC Pipeline</a:t>
            </a:r>
            <a:endParaRPr lang="en-US" sz="1300" dirty="0"/>
          </a:p>
        </p:txBody>
      </p:sp>
      <p:sp>
        <p:nvSpPr>
          <p:cNvPr id="6" name="Text 4"/>
          <p:cNvSpPr/>
          <p:nvPr/>
        </p:nvSpPr>
        <p:spPr>
          <a:xfrm>
            <a:off x="457200" y="2423160"/>
            <a:ext cx="2084832" cy="365760"/>
          </a:xfrm>
          <a:prstGeom prst="rect">
            <a:avLst/>
          </a:prstGeom>
          <a:noFill/>
          <a:ln/>
        </p:spPr>
        <p:txBody>
          <a:bodyPr wrap="square" rtlCol="0" anchor="ctr"/>
          <a:lstStyle/>
          <a:p>
            <a:pPr algn="ctr" indent="0" marL="0">
              <a:buNone/>
            </a:pPr>
            <a:r>
              <a:rPr lang="en-US" sz="950" dirty="0">
                <a:solidFill>
                  <a:srgbClr val="E6EEF5"/>
                </a:solidFill>
                <a:latin typeface="Calibri" pitchFamily="34" charset="0"/>
                <a:ea typeface="Calibri" pitchFamily="34" charset="-122"/>
                <a:cs typeface="Calibri" pitchFamily="34" charset="-120"/>
              </a:rPr>
              <a:t>prepare -&gt; train -&gt; evaluate</a:t>
            </a:r>
            <a:endParaRPr lang="en-US" sz="950" dirty="0"/>
          </a:p>
        </p:txBody>
      </p:sp>
      <p:sp>
        <p:nvSpPr>
          <p:cNvPr id="7" name="Shape 5"/>
          <p:cNvSpPr/>
          <p:nvPr/>
        </p:nvSpPr>
        <p:spPr>
          <a:xfrm>
            <a:off x="2551176" y="2286000"/>
            <a:ext cx="137160" cy="201168"/>
          </a:xfrm>
          <a:prstGeom prst="rightArrow">
            <a:avLst/>
          </a:prstGeom>
          <a:solidFill>
            <a:srgbClr val="6B7A88"/>
          </a:solidFill>
          <a:ln/>
        </p:spPr>
      </p:sp>
      <p:sp>
        <p:nvSpPr>
          <p:cNvPr id="8" name="Shape 6"/>
          <p:cNvSpPr/>
          <p:nvPr/>
        </p:nvSpPr>
        <p:spPr>
          <a:xfrm>
            <a:off x="2670048" y="1920240"/>
            <a:ext cx="2084832" cy="960120"/>
          </a:xfrm>
          <a:prstGeom prst="roundRect">
            <a:avLst>
              <a:gd name="adj" fmla="val 7619"/>
            </a:avLst>
          </a:prstGeom>
          <a:solidFill>
            <a:srgbClr val="065A82"/>
          </a:solidFill>
          <a:ln/>
        </p:spPr>
      </p:sp>
      <p:sp>
        <p:nvSpPr>
          <p:cNvPr id="9" name="Text 7"/>
          <p:cNvSpPr/>
          <p:nvPr/>
        </p:nvSpPr>
        <p:spPr>
          <a:xfrm>
            <a:off x="2670048" y="1993392"/>
            <a:ext cx="2084832"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models/model.pkl</a:t>
            </a:r>
            <a:endParaRPr lang="en-US" sz="1300" dirty="0"/>
          </a:p>
        </p:txBody>
      </p:sp>
      <p:sp>
        <p:nvSpPr>
          <p:cNvPr id="10" name="Text 8"/>
          <p:cNvSpPr/>
          <p:nvPr/>
        </p:nvSpPr>
        <p:spPr>
          <a:xfrm>
            <a:off x="2670048" y="2423160"/>
            <a:ext cx="2084832" cy="365760"/>
          </a:xfrm>
          <a:prstGeom prst="rect">
            <a:avLst/>
          </a:prstGeom>
          <a:noFill/>
          <a:ln/>
        </p:spPr>
        <p:txBody>
          <a:bodyPr wrap="square" rtlCol="0" anchor="ctr"/>
          <a:lstStyle/>
          <a:p>
            <a:pPr algn="ctr" indent="0" marL="0">
              <a:buNone/>
            </a:pPr>
            <a:r>
              <a:rPr lang="en-US" sz="950" dirty="0">
                <a:solidFill>
                  <a:srgbClr val="E6EEF5"/>
                </a:solidFill>
                <a:latin typeface="Calibri" pitchFamily="34" charset="0"/>
                <a:ea typeface="Calibri" pitchFamily="34" charset="-122"/>
                <a:cs typeface="Calibri" pitchFamily="34" charset="-120"/>
              </a:rPr>
              <a:t>git-tracked artifact</a:t>
            </a:r>
            <a:endParaRPr lang="en-US" sz="950" dirty="0"/>
          </a:p>
        </p:txBody>
      </p:sp>
      <p:sp>
        <p:nvSpPr>
          <p:cNvPr id="11" name="Shape 9"/>
          <p:cNvSpPr/>
          <p:nvPr/>
        </p:nvSpPr>
        <p:spPr>
          <a:xfrm>
            <a:off x="4764024" y="2286000"/>
            <a:ext cx="137160" cy="201168"/>
          </a:xfrm>
          <a:prstGeom prst="rightArrow">
            <a:avLst/>
          </a:prstGeom>
          <a:solidFill>
            <a:srgbClr val="6B7A88"/>
          </a:solidFill>
          <a:ln/>
        </p:spPr>
      </p:sp>
      <p:sp>
        <p:nvSpPr>
          <p:cNvPr id="12" name="Shape 10"/>
          <p:cNvSpPr/>
          <p:nvPr/>
        </p:nvSpPr>
        <p:spPr>
          <a:xfrm>
            <a:off x="4882896" y="1920240"/>
            <a:ext cx="2084832" cy="960120"/>
          </a:xfrm>
          <a:prstGeom prst="roundRect">
            <a:avLst>
              <a:gd name="adj" fmla="val 7619"/>
            </a:avLst>
          </a:prstGeom>
          <a:solidFill>
            <a:srgbClr val="1C7293"/>
          </a:solidFill>
          <a:ln/>
        </p:spPr>
      </p:sp>
      <p:sp>
        <p:nvSpPr>
          <p:cNvPr id="13" name="Text 11"/>
          <p:cNvSpPr/>
          <p:nvPr/>
        </p:nvSpPr>
        <p:spPr>
          <a:xfrm>
            <a:off x="4882896" y="1993392"/>
            <a:ext cx="2084832"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FastAPI</a:t>
            </a:r>
            <a:endParaRPr lang="en-US" sz="1300" dirty="0"/>
          </a:p>
        </p:txBody>
      </p:sp>
      <p:sp>
        <p:nvSpPr>
          <p:cNvPr id="14" name="Text 12"/>
          <p:cNvSpPr/>
          <p:nvPr/>
        </p:nvSpPr>
        <p:spPr>
          <a:xfrm>
            <a:off x="4882896" y="2423160"/>
            <a:ext cx="2084832" cy="365760"/>
          </a:xfrm>
          <a:prstGeom prst="rect">
            <a:avLst/>
          </a:prstGeom>
          <a:noFill/>
          <a:ln/>
        </p:spPr>
        <p:txBody>
          <a:bodyPr wrap="square" rtlCol="0" anchor="ctr"/>
          <a:lstStyle/>
          <a:p>
            <a:pPr algn="ctr" indent="0" marL="0">
              <a:buNone/>
            </a:pPr>
            <a:r>
              <a:rPr lang="en-US" sz="950" dirty="0">
                <a:solidFill>
                  <a:srgbClr val="E6EEF5"/>
                </a:solidFill>
                <a:latin typeface="Calibri" pitchFamily="34" charset="0"/>
                <a:ea typeface="Calibri" pitchFamily="34" charset="-122"/>
                <a:cs typeface="Calibri" pitchFamily="34" charset="-120"/>
              </a:rPr>
              <a:t>app/main.py</a:t>
            </a:r>
            <a:endParaRPr lang="en-US" sz="950" dirty="0"/>
          </a:p>
        </p:txBody>
      </p:sp>
      <p:sp>
        <p:nvSpPr>
          <p:cNvPr id="15" name="Shape 13"/>
          <p:cNvSpPr/>
          <p:nvPr/>
        </p:nvSpPr>
        <p:spPr>
          <a:xfrm>
            <a:off x="6976872" y="2286000"/>
            <a:ext cx="137160" cy="201168"/>
          </a:xfrm>
          <a:prstGeom prst="rightArrow">
            <a:avLst/>
          </a:prstGeom>
          <a:solidFill>
            <a:srgbClr val="6B7A88"/>
          </a:solidFill>
          <a:ln/>
        </p:spPr>
      </p:sp>
      <p:sp>
        <p:nvSpPr>
          <p:cNvPr id="16" name="Shape 14"/>
          <p:cNvSpPr/>
          <p:nvPr/>
        </p:nvSpPr>
        <p:spPr>
          <a:xfrm>
            <a:off x="7095744" y="1920240"/>
            <a:ext cx="2084832" cy="960120"/>
          </a:xfrm>
          <a:prstGeom prst="roundRect">
            <a:avLst>
              <a:gd name="adj" fmla="val 7619"/>
            </a:avLst>
          </a:prstGeom>
          <a:solidFill>
            <a:srgbClr val="1C7293"/>
          </a:solidFill>
          <a:ln/>
        </p:spPr>
      </p:sp>
      <p:sp>
        <p:nvSpPr>
          <p:cNvPr id="17" name="Text 15"/>
          <p:cNvSpPr/>
          <p:nvPr/>
        </p:nvSpPr>
        <p:spPr>
          <a:xfrm>
            <a:off x="7095744" y="1993392"/>
            <a:ext cx="2084832"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Docker</a:t>
            </a:r>
            <a:endParaRPr lang="en-US" sz="1300" dirty="0"/>
          </a:p>
        </p:txBody>
      </p:sp>
      <p:sp>
        <p:nvSpPr>
          <p:cNvPr id="18" name="Text 16"/>
          <p:cNvSpPr/>
          <p:nvPr/>
        </p:nvSpPr>
        <p:spPr>
          <a:xfrm>
            <a:off x="7095744" y="2423160"/>
            <a:ext cx="2084832" cy="365760"/>
          </a:xfrm>
          <a:prstGeom prst="rect">
            <a:avLst/>
          </a:prstGeom>
          <a:noFill/>
          <a:ln/>
        </p:spPr>
        <p:txBody>
          <a:bodyPr wrap="square" rtlCol="0" anchor="ctr"/>
          <a:lstStyle/>
          <a:p>
            <a:pPr algn="ctr" indent="0" marL="0">
              <a:buNone/>
            </a:pPr>
            <a:r>
              <a:rPr lang="en-US" sz="950" dirty="0">
                <a:solidFill>
                  <a:srgbClr val="E6EEF5"/>
                </a:solidFill>
                <a:latin typeface="Calibri" pitchFamily="34" charset="0"/>
                <a:ea typeface="Calibri" pitchFamily="34" charset="-122"/>
                <a:cs typeface="Calibri" pitchFamily="34" charset="-120"/>
              </a:rPr>
              <a:t>Dockerfile</a:t>
            </a:r>
            <a:endParaRPr lang="en-US" sz="950" dirty="0"/>
          </a:p>
        </p:txBody>
      </p:sp>
      <p:sp>
        <p:nvSpPr>
          <p:cNvPr id="19" name="Shape 17"/>
          <p:cNvSpPr/>
          <p:nvPr/>
        </p:nvSpPr>
        <p:spPr>
          <a:xfrm>
            <a:off x="9189720" y="2286000"/>
            <a:ext cx="137160" cy="201168"/>
          </a:xfrm>
          <a:prstGeom prst="rightArrow">
            <a:avLst/>
          </a:prstGeom>
          <a:solidFill>
            <a:srgbClr val="6B7A88"/>
          </a:solidFill>
          <a:ln/>
        </p:spPr>
      </p:sp>
      <p:sp>
        <p:nvSpPr>
          <p:cNvPr id="20" name="Shape 18"/>
          <p:cNvSpPr/>
          <p:nvPr/>
        </p:nvSpPr>
        <p:spPr>
          <a:xfrm>
            <a:off x="9308592" y="1920240"/>
            <a:ext cx="2084832" cy="960120"/>
          </a:xfrm>
          <a:prstGeom prst="roundRect">
            <a:avLst>
              <a:gd name="adj" fmla="val 7619"/>
            </a:avLst>
          </a:prstGeom>
          <a:solidFill>
            <a:srgbClr val="E8A33D"/>
          </a:solidFill>
          <a:ln/>
        </p:spPr>
      </p:sp>
      <p:sp>
        <p:nvSpPr>
          <p:cNvPr id="21" name="Text 19"/>
          <p:cNvSpPr/>
          <p:nvPr/>
        </p:nvSpPr>
        <p:spPr>
          <a:xfrm>
            <a:off x="9308592" y="1993392"/>
            <a:ext cx="2084832"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Render</a:t>
            </a:r>
            <a:endParaRPr lang="en-US" sz="1300" dirty="0"/>
          </a:p>
        </p:txBody>
      </p:sp>
      <p:sp>
        <p:nvSpPr>
          <p:cNvPr id="22" name="Text 20"/>
          <p:cNvSpPr/>
          <p:nvPr/>
        </p:nvSpPr>
        <p:spPr>
          <a:xfrm>
            <a:off x="9308592" y="2423160"/>
            <a:ext cx="2084832" cy="365760"/>
          </a:xfrm>
          <a:prstGeom prst="rect">
            <a:avLst/>
          </a:prstGeom>
          <a:noFill/>
          <a:ln/>
        </p:spPr>
        <p:txBody>
          <a:bodyPr wrap="square" rtlCol="0" anchor="ctr"/>
          <a:lstStyle/>
          <a:p>
            <a:pPr algn="ctr" indent="0" marL="0">
              <a:buNone/>
            </a:pPr>
            <a:r>
              <a:rPr lang="en-US" sz="950" dirty="0">
                <a:solidFill>
                  <a:srgbClr val="E6EEF5"/>
                </a:solidFill>
                <a:latin typeface="Calibri" pitchFamily="34" charset="0"/>
                <a:ea typeface="Calibri" pitchFamily="34" charset="-122"/>
                <a:cs typeface="Calibri" pitchFamily="34" charset="-120"/>
              </a:rPr>
              <a:t>live public URL</a:t>
            </a:r>
            <a:endParaRPr lang="en-US" sz="950" dirty="0"/>
          </a:p>
        </p:txBody>
      </p:sp>
      <p:sp>
        <p:nvSpPr>
          <p:cNvPr id="23" name="Shape 21"/>
          <p:cNvSpPr/>
          <p:nvPr/>
        </p:nvSpPr>
        <p:spPr>
          <a:xfrm>
            <a:off x="4892040" y="3246120"/>
            <a:ext cx="6309360" cy="868680"/>
          </a:xfrm>
          <a:prstGeom prst="roundRect">
            <a:avLst>
              <a:gd name="adj" fmla="val 8421"/>
            </a:avLst>
          </a:prstGeom>
          <a:solidFill>
            <a:srgbClr val="F2F6F9"/>
          </a:solidFill>
          <a:ln w="12700">
            <a:solidFill>
              <a:srgbClr val="1C7293"/>
            </a:solidFill>
            <a:prstDash val="dash"/>
          </a:ln>
        </p:spPr>
      </p:sp>
      <p:sp>
        <p:nvSpPr>
          <p:cNvPr id="24" name="Text 22"/>
          <p:cNvSpPr/>
          <p:nvPr/>
        </p:nvSpPr>
        <p:spPr>
          <a:xfrm>
            <a:off x="5074920" y="3246120"/>
            <a:ext cx="5943600" cy="868680"/>
          </a:xfrm>
          <a:prstGeom prst="rect">
            <a:avLst/>
          </a:prstGeom>
          <a:noFill/>
          <a:ln/>
        </p:spPr>
        <p:txBody>
          <a:bodyPr wrap="square" rtlCol="0" anchor="ctr"/>
          <a:lstStyle/>
          <a:p>
            <a:pPr algn="ctr" indent="0" marL="0">
              <a:buNone/>
            </a:pPr>
            <a:r>
              <a:rPr lang="en-US" sz="1200" b="1" dirty="0">
                <a:solidFill>
                  <a:srgbClr val="0B2545"/>
                </a:solidFill>
                <a:latin typeface="Calibri" pitchFamily="34" charset="0"/>
                <a:ea typeface="Calibri" pitchFamily="34" charset="-122"/>
                <a:cs typeface="Calibri" pitchFamily="34" charset="-120"/>
              </a:rPr>
              <a:t>GitHub Actions:  ci.yml (lint + test + docker build)  --&gt;  cd.yml (deploy hook, gated on CI success)</a:t>
            </a:r>
            <a:endParaRPr lang="en-US" sz="1200" dirty="0"/>
          </a:p>
        </p:txBody>
      </p:sp>
      <p:sp>
        <p:nvSpPr>
          <p:cNvPr id="25" name="Shape 23"/>
          <p:cNvSpPr/>
          <p:nvPr/>
        </p:nvSpPr>
        <p:spPr>
          <a:xfrm>
            <a:off x="7863840" y="2926080"/>
            <a:ext cx="274320" cy="274320"/>
          </a:xfrm>
          <a:prstGeom prst="upArrow">
            <a:avLst/>
          </a:prstGeom>
          <a:solidFill>
            <a:srgbClr val="6B7A88"/>
          </a:solidFill>
          <a:ln/>
        </p:spPr>
      </p:sp>
      <p:sp>
        <p:nvSpPr>
          <p:cNvPr id="26" name="Shape 24"/>
          <p:cNvSpPr/>
          <p:nvPr/>
        </p:nvSpPr>
        <p:spPr>
          <a:xfrm>
            <a:off x="457200" y="4709160"/>
            <a:ext cx="2651760" cy="914400"/>
          </a:xfrm>
          <a:prstGeom prst="roundRect">
            <a:avLst>
              <a:gd name="adj" fmla="val 8000"/>
            </a:avLst>
          </a:prstGeom>
          <a:solidFill>
            <a:srgbClr val="0B2545"/>
          </a:solidFill>
          <a:ln/>
        </p:spPr>
      </p:sp>
      <p:sp>
        <p:nvSpPr>
          <p:cNvPr id="27" name="Text 25"/>
          <p:cNvSpPr/>
          <p:nvPr/>
        </p:nvSpPr>
        <p:spPr>
          <a:xfrm>
            <a:off x="457200" y="4782312"/>
            <a:ext cx="265176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logs/predictions.csv</a:t>
            </a:r>
            <a:endParaRPr lang="en-US" sz="1250" dirty="0"/>
          </a:p>
        </p:txBody>
      </p:sp>
      <p:sp>
        <p:nvSpPr>
          <p:cNvPr id="28" name="Text 26"/>
          <p:cNvSpPr/>
          <p:nvPr/>
        </p:nvSpPr>
        <p:spPr>
          <a:xfrm>
            <a:off x="457200" y="5212080"/>
            <a:ext cx="2651760" cy="365760"/>
          </a:xfrm>
          <a:prstGeom prst="rect">
            <a:avLst/>
          </a:prstGeom>
          <a:noFill/>
          <a:ln/>
        </p:spPr>
        <p:txBody>
          <a:bodyPr wrap="square" rtlCol="0" anchor="ctr"/>
          <a:lstStyle/>
          <a:p>
            <a:pPr algn="ctr" indent="0" marL="0">
              <a:buNone/>
            </a:pPr>
            <a:r>
              <a:rPr lang="en-US" sz="950" dirty="0">
                <a:solidFill>
                  <a:srgbClr val="9FB3C8"/>
                </a:solidFill>
                <a:latin typeface="Calibri" pitchFamily="34" charset="0"/>
                <a:ea typeface="Calibri" pitchFamily="34" charset="-122"/>
                <a:cs typeface="Calibri" pitchFamily="34" charset="-120"/>
              </a:rPr>
              <a:t>logged live traffic</a:t>
            </a:r>
            <a:endParaRPr lang="en-US" sz="950" dirty="0"/>
          </a:p>
        </p:txBody>
      </p:sp>
      <p:sp>
        <p:nvSpPr>
          <p:cNvPr id="29" name="Shape 27"/>
          <p:cNvSpPr/>
          <p:nvPr/>
        </p:nvSpPr>
        <p:spPr>
          <a:xfrm>
            <a:off x="3127248" y="5056632"/>
            <a:ext cx="109728" cy="201168"/>
          </a:xfrm>
          <a:prstGeom prst="rightArrow">
            <a:avLst/>
          </a:prstGeom>
          <a:solidFill>
            <a:srgbClr val="E8A33D"/>
          </a:solidFill>
          <a:ln/>
        </p:spPr>
      </p:sp>
      <p:sp>
        <p:nvSpPr>
          <p:cNvPr id="30" name="Shape 28"/>
          <p:cNvSpPr/>
          <p:nvPr/>
        </p:nvSpPr>
        <p:spPr>
          <a:xfrm>
            <a:off x="3255264" y="4709160"/>
            <a:ext cx="2651760" cy="914400"/>
          </a:xfrm>
          <a:prstGeom prst="roundRect">
            <a:avLst>
              <a:gd name="adj" fmla="val 8000"/>
            </a:avLst>
          </a:prstGeom>
          <a:solidFill>
            <a:srgbClr val="0B2545"/>
          </a:solidFill>
          <a:ln/>
        </p:spPr>
      </p:sp>
      <p:sp>
        <p:nvSpPr>
          <p:cNvPr id="31" name="Text 29"/>
          <p:cNvSpPr/>
          <p:nvPr/>
        </p:nvSpPr>
        <p:spPr>
          <a:xfrm>
            <a:off x="3255264" y="4782312"/>
            <a:ext cx="265176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EvidentlyAI drift report</a:t>
            </a:r>
            <a:endParaRPr lang="en-US" sz="1250" dirty="0"/>
          </a:p>
        </p:txBody>
      </p:sp>
      <p:sp>
        <p:nvSpPr>
          <p:cNvPr id="32" name="Text 30"/>
          <p:cNvSpPr/>
          <p:nvPr/>
        </p:nvSpPr>
        <p:spPr>
          <a:xfrm>
            <a:off x="3255264" y="5212080"/>
            <a:ext cx="2651760" cy="365760"/>
          </a:xfrm>
          <a:prstGeom prst="rect">
            <a:avLst/>
          </a:prstGeom>
          <a:noFill/>
          <a:ln/>
        </p:spPr>
        <p:txBody>
          <a:bodyPr wrap="square" rtlCol="0" anchor="ctr"/>
          <a:lstStyle/>
          <a:p>
            <a:pPr algn="ctr" indent="0" marL="0">
              <a:buNone/>
            </a:pPr>
            <a:r>
              <a:rPr lang="en-US" sz="950" dirty="0">
                <a:solidFill>
                  <a:srgbClr val="9FB3C8"/>
                </a:solidFill>
                <a:latin typeface="Calibri" pitchFamily="34" charset="0"/>
                <a:ea typeface="Calibri" pitchFamily="34" charset="-122"/>
                <a:cs typeface="Calibri" pitchFamily="34" charset="-120"/>
              </a:rPr>
              <a:t>src/monitor_drift.py</a:t>
            </a:r>
            <a:endParaRPr lang="en-US" sz="950" dirty="0"/>
          </a:p>
        </p:txBody>
      </p:sp>
      <p:sp>
        <p:nvSpPr>
          <p:cNvPr id="33" name="Shape 31"/>
          <p:cNvSpPr/>
          <p:nvPr/>
        </p:nvSpPr>
        <p:spPr>
          <a:xfrm>
            <a:off x="5925312" y="5056632"/>
            <a:ext cx="109728" cy="201168"/>
          </a:xfrm>
          <a:prstGeom prst="rightArrow">
            <a:avLst/>
          </a:prstGeom>
          <a:solidFill>
            <a:srgbClr val="E8A33D"/>
          </a:solidFill>
          <a:ln/>
        </p:spPr>
      </p:sp>
      <p:sp>
        <p:nvSpPr>
          <p:cNvPr id="34" name="Shape 32"/>
          <p:cNvSpPr/>
          <p:nvPr/>
        </p:nvSpPr>
        <p:spPr>
          <a:xfrm>
            <a:off x="6053328" y="4709160"/>
            <a:ext cx="2651760" cy="914400"/>
          </a:xfrm>
          <a:prstGeom prst="roundRect">
            <a:avLst>
              <a:gd name="adj" fmla="val 8000"/>
            </a:avLst>
          </a:prstGeom>
          <a:solidFill>
            <a:srgbClr val="0B2545"/>
          </a:solidFill>
          <a:ln/>
        </p:spPr>
      </p:sp>
      <p:sp>
        <p:nvSpPr>
          <p:cNvPr id="35" name="Text 33"/>
          <p:cNvSpPr/>
          <p:nvPr/>
        </p:nvSpPr>
        <p:spPr>
          <a:xfrm>
            <a:off x="6053328" y="4782312"/>
            <a:ext cx="265176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Retrain trigger</a:t>
            </a:r>
            <a:endParaRPr lang="en-US" sz="1250" dirty="0"/>
          </a:p>
        </p:txBody>
      </p:sp>
      <p:sp>
        <p:nvSpPr>
          <p:cNvPr id="36" name="Text 34"/>
          <p:cNvSpPr/>
          <p:nvPr/>
        </p:nvSpPr>
        <p:spPr>
          <a:xfrm>
            <a:off x="6053328" y="5212080"/>
            <a:ext cx="2651760" cy="365760"/>
          </a:xfrm>
          <a:prstGeom prst="rect">
            <a:avLst/>
          </a:prstGeom>
          <a:noFill/>
          <a:ln/>
        </p:spPr>
        <p:txBody>
          <a:bodyPr wrap="square" rtlCol="0" anchor="ctr"/>
          <a:lstStyle/>
          <a:p>
            <a:pPr algn="ctr" indent="0" marL="0">
              <a:buNone/>
            </a:pPr>
            <a:r>
              <a:rPr lang="en-US" sz="950" dirty="0">
                <a:solidFill>
                  <a:srgbClr val="9FB3C8"/>
                </a:solidFill>
                <a:latin typeface="Calibri" pitchFamily="34" charset="0"/>
                <a:ea typeface="Calibri" pitchFamily="34" charset="-122"/>
                <a:cs typeface="Calibri" pitchFamily="34" charset="-120"/>
              </a:rPr>
              <a:t>performance + drift</a:t>
            </a:r>
            <a:endParaRPr lang="en-US" sz="950" dirty="0"/>
          </a:p>
        </p:txBody>
      </p:sp>
      <p:sp>
        <p:nvSpPr>
          <p:cNvPr id="37" name="Shape 35"/>
          <p:cNvSpPr/>
          <p:nvPr/>
        </p:nvSpPr>
        <p:spPr>
          <a:xfrm>
            <a:off x="8723376" y="5056632"/>
            <a:ext cx="109728" cy="201168"/>
          </a:xfrm>
          <a:prstGeom prst="rightArrow">
            <a:avLst/>
          </a:prstGeom>
          <a:solidFill>
            <a:srgbClr val="E8A33D"/>
          </a:solidFill>
          <a:ln/>
        </p:spPr>
      </p:sp>
      <p:sp>
        <p:nvSpPr>
          <p:cNvPr id="38" name="Shape 36"/>
          <p:cNvSpPr/>
          <p:nvPr/>
        </p:nvSpPr>
        <p:spPr>
          <a:xfrm>
            <a:off x="8851392" y="4709160"/>
            <a:ext cx="2651760" cy="914400"/>
          </a:xfrm>
          <a:prstGeom prst="roundRect">
            <a:avLst>
              <a:gd name="adj" fmla="val 8000"/>
            </a:avLst>
          </a:prstGeom>
          <a:solidFill>
            <a:srgbClr val="0B2545"/>
          </a:solidFill>
          <a:ln/>
        </p:spPr>
      </p:sp>
      <p:sp>
        <p:nvSpPr>
          <p:cNvPr id="39" name="Text 37"/>
          <p:cNvSpPr/>
          <p:nvPr/>
        </p:nvSpPr>
        <p:spPr>
          <a:xfrm>
            <a:off x="8851392" y="4782312"/>
            <a:ext cx="2651760" cy="457200"/>
          </a:xfrm>
          <a:prstGeom prst="rect">
            <a:avLst/>
          </a:prstGeom>
          <a:noFill/>
          <a:ln/>
        </p:spPr>
        <p:txBody>
          <a:bodyPr wrap="square"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PR w/ new model</a:t>
            </a:r>
            <a:endParaRPr lang="en-US" sz="1250" dirty="0"/>
          </a:p>
        </p:txBody>
      </p:sp>
      <p:sp>
        <p:nvSpPr>
          <p:cNvPr id="40" name="Text 38"/>
          <p:cNvSpPr/>
          <p:nvPr/>
        </p:nvSpPr>
        <p:spPr>
          <a:xfrm>
            <a:off x="8851392" y="5212080"/>
            <a:ext cx="2651760" cy="365760"/>
          </a:xfrm>
          <a:prstGeom prst="rect">
            <a:avLst/>
          </a:prstGeom>
          <a:noFill/>
          <a:ln/>
        </p:spPr>
        <p:txBody>
          <a:bodyPr wrap="square" rtlCol="0" anchor="ctr"/>
          <a:lstStyle/>
          <a:p>
            <a:pPr algn="ctr" indent="0" marL="0">
              <a:buNone/>
            </a:pPr>
            <a:r>
              <a:rPr lang="en-US" sz="950" dirty="0">
                <a:solidFill>
                  <a:srgbClr val="9FB3C8"/>
                </a:solidFill>
                <a:latin typeface="Calibri" pitchFamily="34" charset="0"/>
                <a:ea typeface="Calibri" pitchFamily="34" charset="-122"/>
                <a:cs typeface="Calibri" pitchFamily="34" charset="-120"/>
              </a:rPr>
              <a:t>human review required</a:t>
            </a:r>
            <a:endParaRPr lang="en-US" sz="950" dirty="0"/>
          </a:p>
        </p:txBody>
      </p:sp>
      <p:sp>
        <p:nvSpPr>
          <p:cNvPr id="41" name="Text 39"/>
          <p:cNvSpPr/>
          <p:nvPr/>
        </p:nvSpPr>
        <p:spPr>
          <a:xfrm>
            <a:off x="457200" y="5669280"/>
            <a:ext cx="7315200" cy="274320"/>
          </a:xfrm>
          <a:prstGeom prst="rect">
            <a:avLst/>
          </a:prstGeom>
          <a:noFill/>
          <a:ln/>
        </p:spPr>
        <p:txBody>
          <a:bodyPr wrap="square" rtlCol="0" anchor="ctr"/>
          <a:lstStyle/>
          <a:p>
            <a:pPr indent="0" marL="0">
              <a:buNone/>
            </a:pPr>
            <a:r>
              <a:rPr lang="en-US" sz="1050" i="1" dirty="0">
                <a:solidFill>
                  <a:srgbClr val="6B7A88"/>
                </a:solidFill>
                <a:latin typeface="Calibri" pitchFamily="34" charset="0"/>
                <a:ea typeface="Calibri" pitchFamily="34" charset="-122"/>
                <a:cs typeface="Calibri" pitchFamily="34" charset="-120"/>
              </a:rPr>
              <a:t>Continuous Training loop -- feeds back into the DVC pipeline above</a:t>
            </a:r>
            <a:endParaRPr lang="en-US" sz="1050" dirty="0"/>
          </a:p>
        </p:txBody>
      </p:sp>
      <p:sp>
        <p:nvSpPr>
          <p:cNvPr id="42" name="Text 40"/>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4</a:t>
            </a:r>
            <a:endParaRPr lang="en-US" sz="1000" dirty="0"/>
          </a:p>
        </p:txBody>
      </p:sp>
      <p:sp>
        <p:nvSpPr>
          <p:cNvPr id="43" name="Text 41"/>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ML / Engineering Lead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SERVING THE MODEL</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FastAPI: Model-as-a-Service</a:t>
            </a:r>
            <a:endParaRPr lang="en-US" sz="3200" dirty="0"/>
          </a:p>
        </p:txBody>
      </p:sp>
      <p:sp>
        <p:nvSpPr>
          <p:cNvPr id="4" name="Text 2"/>
          <p:cNvSpPr/>
          <p:nvPr/>
        </p:nvSpPr>
        <p:spPr>
          <a:xfrm>
            <a:off x="548640" y="1600200"/>
            <a:ext cx="10789920" cy="365760"/>
          </a:xfrm>
          <a:prstGeom prst="rect">
            <a:avLst/>
          </a:prstGeom>
          <a:noFill/>
          <a:ln/>
        </p:spPr>
        <p:txBody>
          <a:bodyPr wrap="square" rtlCol="0" anchor="ctr"/>
          <a:lstStyle/>
          <a:p>
            <a:pPr indent="0" marL="0">
              <a:buNone/>
            </a:pPr>
            <a:r>
              <a:rPr lang="en-US" sz="1400" dirty="0">
                <a:solidFill>
                  <a:srgbClr val="6B7A88"/>
                </a:solidFill>
                <a:latin typeface="Calibri" pitchFamily="34" charset="0"/>
                <a:ea typeface="Calibri" pitchFamily="34" charset="-122"/>
                <a:cs typeface="Calibri" pitchFamily="34" charset="-120"/>
              </a:rPr>
              <a:t>app/main.py loads models/model.pkl once at startup and exposes it as a REST API.</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6400800" cy="914400"/>
        </p:xfrm>
        <a:graphic>
          <a:graphicData uri="http://schemas.openxmlformats.org/drawingml/2006/table">
            <a:tbl>
              <a:tblPr/>
              <a:tblGrid>
                <a:gridCol w="2834640"/>
                <a:gridCol w="3566160"/>
              </a:tblGrid>
              <a:tr h="45720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POST /predict</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Single prediction + class probabilities</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POST /predict/batch</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Batch scoring, many students at once</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GET /health</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Liveness check (used by Docker + Render)</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GET /model-info</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Model type, version, feature list, classes</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GET /monitoring/recent-predictions</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Recent logged traffic, for drift checks</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2103120"/>
            <a:ext cx="6400800" cy="457200"/>
          </a:xfrm>
          <a:prstGeom prst="rect">
            <a:avLst/>
          </a:prstGeom>
          <a:solidFill>
            <a:srgbClr val="065A82"/>
          </a:solidFill>
          <a:ln/>
        </p:spPr>
      </p:sp>
      <p:sp>
        <p:nvSpPr>
          <p:cNvPr id="7" name="Text 4"/>
          <p:cNvSpPr/>
          <p:nvPr/>
        </p:nvSpPr>
        <p:spPr>
          <a:xfrm>
            <a:off x="548640" y="2103120"/>
            <a:ext cx="2834640" cy="457200"/>
          </a:xfrm>
          <a:prstGeom prst="rect">
            <a:avLst/>
          </a:prstGeom>
          <a:noFill/>
          <a:ln/>
        </p:spPr>
        <p:txBody>
          <a:bodyPr wrap="square" lIns="91440" tIns="91440" rIns="91440" bIns="9144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Endpoint</a:t>
            </a:r>
            <a:endParaRPr lang="en-US" sz="1250" dirty="0"/>
          </a:p>
        </p:txBody>
      </p:sp>
      <p:sp>
        <p:nvSpPr>
          <p:cNvPr id="8" name="Text 5"/>
          <p:cNvSpPr/>
          <p:nvPr/>
        </p:nvSpPr>
        <p:spPr>
          <a:xfrm>
            <a:off x="3383280" y="2103120"/>
            <a:ext cx="3566160" cy="457200"/>
          </a:xfrm>
          <a:prstGeom prst="rect">
            <a:avLst/>
          </a:prstGeom>
          <a:noFill/>
          <a:ln/>
        </p:spPr>
        <p:txBody>
          <a:bodyPr wrap="square" lIns="91440" tIns="91440" rIns="91440" bIns="9144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Purpose</a:t>
            </a:r>
            <a:endParaRPr lang="en-US" sz="1250" dirty="0"/>
          </a:p>
        </p:txBody>
      </p:sp>
      <p:sp>
        <p:nvSpPr>
          <p:cNvPr id="9" name="Shape 6"/>
          <p:cNvSpPr/>
          <p:nvPr/>
        </p:nvSpPr>
        <p:spPr>
          <a:xfrm>
            <a:off x="7269480" y="2103120"/>
            <a:ext cx="4069080" cy="2743200"/>
          </a:xfrm>
          <a:prstGeom prst="roundRect">
            <a:avLst>
              <a:gd name="adj" fmla="val 3333"/>
            </a:avLst>
          </a:prstGeom>
          <a:solidFill>
            <a:srgbClr val="0B2545"/>
          </a:solidFill>
          <a:ln/>
        </p:spPr>
      </p:sp>
      <p:sp>
        <p:nvSpPr>
          <p:cNvPr id="10" name="Text 7"/>
          <p:cNvSpPr/>
          <p:nvPr/>
        </p:nvSpPr>
        <p:spPr>
          <a:xfrm>
            <a:off x="7498080" y="2286000"/>
            <a:ext cx="3657600" cy="320040"/>
          </a:xfrm>
          <a:prstGeom prst="rect">
            <a:avLst/>
          </a:prstGeom>
          <a:noFill/>
          <a:ln/>
        </p:spPr>
        <p:txBody>
          <a:bodyPr wrap="square"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THE KEY DESIGN DECISION</a:t>
            </a:r>
            <a:endParaRPr lang="en-US" sz="1100" dirty="0"/>
          </a:p>
        </p:txBody>
      </p:sp>
      <p:sp>
        <p:nvSpPr>
          <p:cNvPr id="11" name="Text 8"/>
          <p:cNvSpPr/>
          <p:nvPr/>
        </p:nvSpPr>
        <p:spPr>
          <a:xfrm>
            <a:off x="7498080" y="2606040"/>
            <a:ext cx="3657600" cy="54864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The request schema is not hand-typed.</a:t>
            </a:r>
            <a:endParaRPr lang="en-US" sz="1500" dirty="0"/>
          </a:p>
        </p:txBody>
      </p:sp>
      <p:sp>
        <p:nvSpPr>
          <p:cNvPr id="12" name="Text 9"/>
          <p:cNvSpPr/>
          <p:nvPr/>
        </p:nvSpPr>
        <p:spPr>
          <a:xfrm>
            <a:off x="7498080" y="3200400"/>
            <a:ext cx="3657600" cy="1463040"/>
          </a:xfrm>
          <a:prstGeom prst="rect">
            <a:avLst/>
          </a:prstGeom>
          <a:noFill/>
          <a:ln/>
        </p:spPr>
        <p:txBody>
          <a:bodyPr wrap="square" rtlCol="0" anchor="ctr"/>
          <a:lstStyle/>
          <a:p>
            <a:pPr indent="0" marL="0">
              <a:buNone/>
            </a:pPr>
            <a:r>
              <a:rPr lang="en-US" sz="1250" dirty="0">
                <a:solidFill>
                  <a:srgbClr val="CADCFC"/>
                </a:solidFill>
                <a:latin typeface="Calibri" pitchFamily="34" charset="0"/>
                <a:ea typeface="Calibri" pitchFamily="34" charset="-122"/>
                <a:cs typeface="Calibri" pitchFamily="34" charset="-120"/>
              </a:rPr>
              <a:t>scikit-learn stores training column names on model.feature_names_in_. We build the Pydantic schema from that at startup, so the API can never silently drift out of sync with what prepare.py actually produces.</a:t>
            </a:r>
            <a:endParaRPr lang="en-US" sz="1250" dirty="0"/>
          </a:p>
        </p:txBody>
      </p:sp>
      <p:sp>
        <p:nvSpPr>
          <p:cNvPr id="13" name="Text 10"/>
          <p:cNvSpPr/>
          <p:nvPr/>
        </p:nvSpPr>
        <p:spPr>
          <a:xfrm>
            <a:off x="548640" y="5120640"/>
            <a:ext cx="10789920" cy="365760"/>
          </a:xfrm>
          <a:prstGeom prst="rect">
            <a:avLst/>
          </a:prstGeom>
          <a:noFill/>
          <a:ln/>
        </p:spPr>
        <p:txBody>
          <a:bodyPr wrap="square" rtlCol="0" anchor="ctr"/>
          <a:lstStyle/>
          <a:p>
            <a:pPr indent="0" marL="0">
              <a:buNone/>
            </a:pPr>
            <a:r>
              <a:rPr lang="en-US" sz="1250" b="1" i="1" dirty="0">
                <a:solidFill>
                  <a:srgbClr val="1C7293"/>
                </a:solidFill>
                <a:latin typeface="Calibri" pitchFamily="34" charset="0"/>
                <a:ea typeface="Calibri" pitchFamily="34" charset="-122"/>
                <a:cs typeface="Calibri" pitchFamily="34" charset="-120"/>
              </a:rPr>
              <a:t>15/15 tests passing -- run against a synthetic model fixture, no dependency on the real dataset in CI.</a:t>
            </a:r>
            <a:endParaRPr lang="en-US" sz="1250" dirty="0"/>
          </a:p>
        </p:txBody>
      </p:sp>
      <p:sp>
        <p:nvSpPr>
          <p:cNvPr id="14" name="Text 11"/>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5</a:t>
            </a:r>
            <a:endParaRPr lang="en-US" sz="1000" dirty="0"/>
          </a:p>
        </p:txBody>
      </p:sp>
      <p:sp>
        <p:nvSpPr>
          <p:cNvPr id="15" name="Text 12"/>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ML / Engineering Lead</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CONTAINERIZE &amp; DEPLOY</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Docker -&gt; Render</a:t>
            </a:r>
            <a:endParaRPr lang="en-US" sz="3200" dirty="0"/>
          </a:p>
        </p:txBody>
      </p:sp>
      <p:sp>
        <p:nvSpPr>
          <p:cNvPr id="4" name="Shape 2"/>
          <p:cNvSpPr/>
          <p:nvPr/>
        </p:nvSpPr>
        <p:spPr>
          <a:xfrm>
            <a:off x="548640" y="1737360"/>
            <a:ext cx="5394960" cy="4114800"/>
          </a:xfrm>
          <a:prstGeom prst="roundRect">
            <a:avLst>
              <a:gd name="adj" fmla="val 2222"/>
            </a:avLst>
          </a:prstGeom>
          <a:solidFill>
            <a:srgbClr val="F2F6F9"/>
          </a:solidFill>
          <a:ln/>
        </p:spPr>
      </p:sp>
      <p:sp>
        <p:nvSpPr>
          <p:cNvPr id="5" name="Text 3"/>
          <p:cNvSpPr/>
          <p:nvPr/>
        </p:nvSpPr>
        <p:spPr>
          <a:xfrm>
            <a:off x="822960" y="1920240"/>
            <a:ext cx="484632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Dockerfile highlights</a:t>
            </a:r>
            <a:endParaRPr lang="en-US" sz="1500" dirty="0"/>
          </a:p>
        </p:txBody>
      </p:sp>
      <p:sp>
        <p:nvSpPr>
          <p:cNvPr id="6" name="Text 4"/>
          <p:cNvSpPr/>
          <p:nvPr/>
        </p:nvSpPr>
        <p:spPr>
          <a:xfrm>
            <a:off x="822960" y="2377440"/>
            <a:ext cx="4846320" cy="3291840"/>
          </a:xfrm>
          <a:prstGeom prst="rect">
            <a:avLst/>
          </a:prstGeom>
          <a:noFill/>
          <a:ln/>
        </p:spPr>
        <p:txBody>
          <a:bodyPr wrap="square" rtlCol="0" anchor="t"/>
          <a:lstStyle/>
          <a:p>
            <a:pPr marL="342900" indent="-342900">
              <a:spcAft>
                <a:spcPts val="1000"/>
              </a:spcAft>
              <a:buSzPct val="100000"/>
              <a:buChar char="•"/>
            </a:pPr>
            <a:r>
              <a:rPr lang="en-US" sz="1300" dirty="0">
                <a:solidFill>
                  <a:srgbClr val="23303D"/>
                </a:solidFill>
                <a:latin typeface="Calibri" pitchFamily="34" charset="0"/>
                <a:ea typeface="Calibri" pitchFamily="34" charset="-122"/>
                <a:cs typeface="Calibri" pitchFamily="34" charset="-120"/>
              </a:rPr>
              <a:t>python:3.9-slim base image</a:t>
            </a:r>
            <a:endParaRPr lang="en-US" sz="1300" dirty="0"/>
          </a:p>
          <a:p>
            <a:pPr marL="342900" indent="-342900">
              <a:spcAft>
                <a:spcPts val="1000"/>
              </a:spcAft>
              <a:buSzPct val="100000"/>
              <a:buChar char="•"/>
            </a:pPr>
            <a:r>
              <a:rPr lang="en-US" sz="1300" dirty="0">
                <a:solidFill>
                  <a:srgbClr val="23303D"/>
                </a:solidFill>
                <a:latin typeface="Calibri" pitchFamily="34" charset="0"/>
                <a:ea typeface="Calibri" pitchFamily="34" charset="-122"/>
                <a:cs typeface="Calibri" pitchFamily="34" charset="-120"/>
              </a:rPr>
              <a:t>Non-root user (apiuser) at runtime</a:t>
            </a:r>
            <a:endParaRPr lang="en-US" sz="1300" dirty="0"/>
          </a:p>
          <a:p>
            <a:pPr marL="342900" indent="-342900">
              <a:spcAft>
                <a:spcPts val="1000"/>
              </a:spcAft>
              <a:buSzPct val="100000"/>
              <a:buChar char="•"/>
            </a:pPr>
            <a:r>
              <a:rPr lang="en-US" sz="1300" dirty="0">
                <a:solidFill>
                  <a:srgbClr val="23303D"/>
                </a:solidFill>
                <a:latin typeface="Calibri" pitchFamily="34" charset="0"/>
                <a:ea typeface="Calibri" pitchFamily="34" charset="-122"/>
                <a:cs typeface="Calibri" pitchFamily="34" charset="-120"/>
              </a:rPr>
              <a:t>HEALTHCHECK hitting GET /health every 30s</a:t>
            </a:r>
            <a:endParaRPr lang="en-US" sz="1300" dirty="0"/>
          </a:p>
          <a:p>
            <a:pPr marL="342900" indent="-342900">
              <a:spcAft>
                <a:spcPts val="1000"/>
              </a:spcAft>
              <a:buSzPct val="100000"/>
              <a:buChar char="•"/>
            </a:pPr>
            <a:r>
              <a:rPr lang="en-US" sz="1300" dirty="0">
                <a:solidFill>
                  <a:srgbClr val="23303D"/>
                </a:solidFill>
                <a:latin typeface="Calibri" pitchFamily="34" charset="0"/>
                <a:ea typeface="Calibri" pitchFamily="34" charset="-122"/>
                <a:cs typeface="Calibri" pitchFamily="34" charset="-120"/>
              </a:rPr>
              <a:t>requirements-api.txt kept separate from training deps -- slim image</a:t>
            </a:r>
            <a:endParaRPr lang="en-US" sz="1300" dirty="0"/>
          </a:p>
          <a:p>
            <a:pPr marL="342900" indent="-342900">
              <a:spcAft>
                <a:spcPts val="1000"/>
              </a:spcAft>
              <a:buSzPct val="100000"/>
              <a:buChar char="•"/>
            </a:pPr>
            <a:r>
              <a:rPr lang="en-US" sz="1300" dirty="0">
                <a:solidFill>
                  <a:srgbClr val="23303D"/>
                </a:solidFill>
                <a:latin typeface="Calibri" pitchFamily="34" charset="0"/>
                <a:ea typeface="Calibri" pitchFamily="34" charset="-122"/>
                <a:cs typeface="Calibri" pitchFamily="34" charset="-120"/>
              </a:rPr>
              <a:t>docker-compose.yml adds log volume + resource limits for local dev</a:t>
            </a:r>
            <a:endParaRPr lang="en-US" sz="1300" dirty="0"/>
          </a:p>
        </p:txBody>
      </p:sp>
      <p:sp>
        <p:nvSpPr>
          <p:cNvPr id="7" name="Shape 5"/>
          <p:cNvSpPr/>
          <p:nvPr/>
        </p:nvSpPr>
        <p:spPr>
          <a:xfrm>
            <a:off x="6217920" y="1737360"/>
            <a:ext cx="5394960" cy="4114800"/>
          </a:xfrm>
          <a:prstGeom prst="roundRect">
            <a:avLst>
              <a:gd name="adj" fmla="val 2222"/>
            </a:avLst>
          </a:prstGeom>
          <a:solidFill>
            <a:srgbClr val="0B2545"/>
          </a:solidFill>
          <a:ln/>
        </p:spPr>
      </p:sp>
      <p:sp>
        <p:nvSpPr>
          <p:cNvPr id="8" name="Text 6"/>
          <p:cNvSpPr/>
          <p:nvPr/>
        </p:nvSpPr>
        <p:spPr>
          <a:xfrm>
            <a:off x="6492240" y="1920240"/>
            <a:ext cx="484632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Deployed: Render (free tier)</a:t>
            </a:r>
            <a:endParaRPr lang="en-US" sz="1500" dirty="0"/>
          </a:p>
        </p:txBody>
      </p:sp>
      <p:sp>
        <p:nvSpPr>
          <p:cNvPr id="9" name="Text 7"/>
          <p:cNvSpPr/>
          <p:nvPr/>
        </p:nvSpPr>
        <p:spPr>
          <a:xfrm>
            <a:off x="6492240" y="2377440"/>
            <a:ext cx="4846320" cy="2377440"/>
          </a:xfrm>
          <a:prstGeom prst="rect">
            <a:avLst/>
          </a:prstGeom>
          <a:noFill/>
          <a:ln/>
        </p:spPr>
        <p:txBody>
          <a:bodyPr wrap="square" rtlCol="0" anchor="ctr"/>
          <a:lstStyle/>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render.yaml Blueprint, Docker environment</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autoDeploy is OFF on purpose</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cd.yml triggers the deploy hook only after CI passes on main</a:t>
            </a:r>
            <a:endParaRPr lang="en-US" sz="1300" dirty="0"/>
          </a:p>
          <a:p>
            <a:pPr marL="342900" indent="-342900">
              <a:spcAft>
                <a:spcPts val="1000"/>
              </a:spcAft>
              <a:buSzPct val="100000"/>
              <a:buChar char="•"/>
            </a:pPr>
            <a:r>
              <a:rPr lang="en-US" sz="1300" dirty="0">
                <a:solidFill>
                  <a:srgbClr val="CADCFC"/>
                </a:solidFill>
                <a:latin typeface="Calibri" pitchFamily="34" charset="0"/>
                <a:ea typeface="Calibri" pitchFamily="34" charset="-122"/>
                <a:cs typeface="Calibri" pitchFamily="34" charset="-120"/>
              </a:rPr>
              <a:t>Free-tier cold start (~30-60s) after 15 min idle -- warmed up before this demo</a:t>
            </a:r>
            <a:endParaRPr lang="en-US" sz="1300" dirty="0"/>
          </a:p>
        </p:txBody>
      </p:sp>
      <p:sp>
        <p:nvSpPr>
          <p:cNvPr id="10" name="Shape 8"/>
          <p:cNvSpPr/>
          <p:nvPr/>
        </p:nvSpPr>
        <p:spPr>
          <a:xfrm>
            <a:off x="6492240" y="4892040"/>
            <a:ext cx="4846320" cy="777240"/>
          </a:xfrm>
          <a:prstGeom prst="roundRect">
            <a:avLst>
              <a:gd name="adj" fmla="val 9412"/>
            </a:avLst>
          </a:prstGeom>
          <a:solidFill>
            <a:srgbClr val="065A82"/>
          </a:solidFill>
          <a:ln/>
        </p:spPr>
      </p:sp>
      <p:sp>
        <p:nvSpPr>
          <p:cNvPr id="11" name="Text 9"/>
          <p:cNvSpPr/>
          <p:nvPr/>
        </p:nvSpPr>
        <p:spPr>
          <a:xfrm>
            <a:off x="6675120" y="4956048"/>
            <a:ext cx="4572000" cy="274320"/>
          </a:xfrm>
          <a:prstGeom prst="rect">
            <a:avLst/>
          </a:prstGeom>
          <a:noFill/>
          <a:ln/>
        </p:spPr>
        <p:txBody>
          <a:bodyPr wrap="square" rtlCol="0" anchor="ctr"/>
          <a:lstStyle/>
          <a:p>
            <a:pPr indent="0" marL="0">
              <a:buNone/>
            </a:pPr>
            <a:r>
              <a:rPr lang="en-US" sz="1000" b="1" dirty="0">
                <a:solidFill>
                  <a:srgbClr val="E8A33D"/>
                </a:solidFill>
                <a:latin typeface="Calibri" pitchFamily="34" charset="0"/>
                <a:ea typeface="Calibri" pitchFamily="34" charset="-122"/>
                <a:cs typeface="Calibri" pitchFamily="34" charset="-120"/>
              </a:rPr>
              <a:t>Live API URL</a:t>
            </a:r>
            <a:endParaRPr lang="en-US" sz="1000" dirty="0"/>
          </a:p>
        </p:txBody>
      </p:sp>
      <p:sp>
        <p:nvSpPr>
          <p:cNvPr id="12" name="Text 10"/>
          <p:cNvSpPr/>
          <p:nvPr/>
        </p:nvSpPr>
        <p:spPr>
          <a:xfrm>
            <a:off x="6675120" y="5193792"/>
            <a:ext cx="4572000" cy="411480"/>
          </a:xfrm>
          <a:prstGeom prst="rect">
            <a:avLst/>
          </a:prstGeom>
          <a:noFill/>
          <a:ln/>
        </p:spPr>
        <p:txBody>
          <a:bodyPr wrap="square" rtlCol="0" anchor="ctr"/>
          <a:lstStyle/>
          <a:p>
            <a:pPr indent="0" marL="0">
              <a:buNone/>
            </a:pPr>
            <a:r>
              <a:rPr lang="en-US" sz="1250" i="1" dirty="0">
                <a:solidFill>
                  <a:srgbClr val="FFFFFF"/>
                </a:solidFill>
                <a:latin typeface="Calibri" pitchFamily="34" charset="0"/>
                <a:ea typeface="Calibri" pitchFamily="34" charset="-122"/>
                <a:cs typeface="Calibri" pitchFamily="34" charset="-120"/>
              </a:rPr>
              <a:t>&lt;team fills in Render URL here before presenting&gt;</a:t>
            </a:r>
            <a:endParaRPr lang="en-US" sz="1250" dirty="0"/>
          </a:p>
        </p:txBody>
      </p:sp>
      <p:sp>
        <p:nvSpPr>
          <p:cNvPr id="13" name="Text 11"/>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6</a:t>
            </a:r>
            <a:endParaRPr lang="en-US" sz="1000" dirty="0"/>
          </a:p>
        </p:txBody>
      </p:sp>
      <p:sp>
        <p:nvSpPr>
          <p:cNvPr id="14" name="Text 12"/>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ML / Engineering Lead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AUTOMATION</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CI/CD: Tests Gate the Deploy</a:t>
            </a:r>
            <a:endParaRPr lang="en-US" sz="3200" dirty="0"/>
          </a:p>
        </p:txBody>
      </p:sp>
      <p:sp>
        <p:nvSpPr>
          <p:cNvPr id="4" name="Shape 2"/>
          <p:cNvSpPr/>
          <p:nvPr/>
        </p:nvSpPr>
        <p:spPr>
          <a:xfrm>
            <a:off x="457200" y="1965960"/>
            <a:ext cx="2148840" cy="1005840"/>
          </a:xfrm>
          <a:prstGeom prst="roundRect">
            <a:avLst>
              <a:gd name="adj" fmla="val 7273"/>
            </a:avLst>
          </a:prstGeom>
          <a:solidFill>
            <a:srgbClr val="6B7A88"/>
          </a:solidFill>
          <a:ln/>
        </p:spPr>
      </p:sp>
      <p:sp>
        <p:nvSpPr>
          <p:cNvPr id="5" name="Text 3"/>
          <p:cNvSpPr/>
          <p:nvPr/>
        </p:nvSpPr>
        <p:spPr>
          <a:xfrm>
            <a:off x="530352" y="1965960"/>
            <a:ext cx="2002536"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Push / PR</a:t>
            </a:r>
            <a:endParaRPr lang="en-US" sz="1200" dirty="0"/>
          </a:p>
        </p:txBody>
      </p:sp>
      <p:sp>
        <p:nvSpPr>
          <p:cNvPr id="6" name="Shape 4"/>
          <p:cNvSpPr/>
          <p:nvPr/>
        </p:nvSpPr>
        <p:spPr>
          <a:xfrm>
            <a:off x="2615184" y="2350008"/>
            <a:ext cx="100584" cy="237744"/>
          </a:xfrm>
          <a:prstGeom prst="rightArrow">
            <a:avLst/>
          </a:prstGeom>
          <a:solidFill>
            <a:srgbClr val="6B7A88"/>
          </a:solidFill>
          <a:ln/>
        </p:spPr>
      </p:sp>
      <p:sp>
        <p:nvSpPr>
          <p:cNvPr id="7" name="Shape 5"/>
          <p:cNvSpPr/>
          <p:nvPr/>
        </p:nvSpPr>
        <p:spPr>
          <a:xfrm>
            <a:off x="2724912" y="1965960"/>
            <a:ext cx="2148840" cy="1005840"/>
          </a:xfrm>
          <a:prstGeom prst="roundRect">
            <a:avLst>
              <a:gd name="adj" fmla="val 7273"/>
            </a:avLst>
          </a:prstGeom>
          <a:solidFill>
            <a:srgbClr val="065A82"/>
          </a:solidFill>
          <a:ln/>
        </p:spPr>
      </p:sp>
      <p:sp>
        <p:nvSpPr>
          <p:cNvPr id="8" name="Text 6"/>
          <p:cNvSpPr/>
          <p:nvPr/>
        </p:nvSpPr>
        <p:spPr>
          <a:xfrm>
            <a:off x="2798064" y="1965960"/>
            <a:ext cx="2002536"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Lint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flake8 + black + isort</a:t>
            </a:r>
            <a:endParaRPr lang="en-US" sz="1200" dirty="0"/>
          </a:p>
        </p:txBody>
      </p:sp>
      <p:sp>
        <p:nvSpPr>
          <p:cNvPr id="9" name="Shape 7"/>
          <p:cNvSpPr/>
          <p:nvPr/>
        </p:nvSpPr>
        <p:spPr>
          <a:xfrm>
            <a:off x="4882896" y="2350008"/>
            <a:ext cx="100584" cy="237744"/>
          </a:xfrm>
          <a:prstGeom prst="rightArrow">
            <a:avLst/>
          </a:prstGeom>
          <a:solidFill>
            <a:srgbClr val="6B7A88"/>
          </a:solidFill>
          <a:ln/>
        </p:spPr>
      </p:sp>
      <p:sp>
        <p:nvSpPr>
          <p:cNvPr id="10" name="Shape 8"/>
          <p:cNvSpPr/>
          <p:nvPr/>
        </p:nvSpPr>
        <p:spPr>
          <a:xfrm>
            <a:off x="4992624" y="1965960"/>
            <a:ext cx="2148840" cy="1005840"/>
          </a:xfrm>
          <a:prstGeom prst="roundRect">
            <a:avLst>
              <a:gd name="adj" fmla="val 7273"/>
            </a:avLst>
          </a:prstGeom>
          <a:solidFill>
            <a:srgbClr val="065A82"/>
          </a:solidFill>
          <a:ln/>
        </p:spPr>
      </p:sp>
      <p:sp>
        <p:nvSpPr>
          <p:cNvPr id="11" name="Text 9"/>
          <p:cNvSpPr/>
          <p:nvPr/>
        </p:nvSpPr>
        <p:spPr>
          <a:xfrm>
            <a:off x="5065776" y="1965960"/>
            <a:ext cx="2002536"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pytest, synthetic fixtures</a:t>
            </a:r>
            <a:endParaRPr lang="en-US" sz="1200" dirty="0"/>
          </a:p>
        </p:txBody>
      </p:sp>
      <p:sp>
        <p:nvSpPr>
          <p:cNvPr id="12" name="Shape 10"/>
          <p:cNvSpPr/>
          <p:nvPr/>
        </p:nvSpPr>
        <p:spPr>
          <a:xfrm>
            <a:off x="7150608" y="2350008"/>
            <a:ext cx="100584" cy="237744"/>
          </a:xfrm>
          <a:prstGeom prst="rightArrow">
            <a:avLst/>
          </a:prstGeom>
          <a:solidFill>
            <a:srgbClr val="6B7A88"/>
          </a:solidFill>
          <a:ln/>
        </p:spPr>
      </p:sp>
      <p:sp>
        <p:nvSpPr>
          <p:cNvPr id="13" name="Shape 11"/>
          <p:cNvSpPr/>
          <p:nvPr/>
        </p:nvSpPr>
        <p:spPr>
          <a:xfrm>
            <a:off x="7260336" y="1965960"/>
            <a:ext cx="2148840" cy="1005840"/>
          </a:xfrm>
          <a:prstGeom prst="roundRect">
            <a:avLst>
              <a:gd name="adj" fmla="val 7273"/>
            </a:avLst>
          </a:prstGeom>
          <a:solidFill>
            <a:srgbClr val="065A82"/>
          </a:solidFill>
          <a:ln/>
        </p:spPr>
      </p:sp>
      <p:sp>
        <p:nvSpPr>
          <p:cNvPr id="14" name="Text 12"/>
          <p:cNvSpPr/>
          <p:nvPr/>
        </p:nvSpPr>
        <p:spPr>
          <a:xfrm>
            <a:off x="7333488" y="1965960"/>
            <a:ext cx="2002536"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Docker build</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(validation only)</a:t>
            </a:r>
            <a:endParaRPr lang="en-US" sz="1200" dirty="0"/>
          </a:p>
        </p:txBody>
      </p:sp>
      <p:sp>
        <p:nvSpPr>
          <p:cNvPr id="15" name="Shape 13"/>
          <p:cNvSpPr/>
          <p:nvPr/>
        </p:nvSpPr>
        <p:spPr>
          <a:xfrm>
            <a:off x="9418320" y="2350008"/>
            <a:ext cx="100584" cy="237744"/>
          </a:xfrm>
          <a:prstGeom prst="rightArrow">
            <a:avLst/>
          </a:prstGeom>
          <a:solidFill>
            <a:srgbClr val="6B7A88"/>
          </a:solidFill>
          <a:ln/>
        </p:spPr>
      </p:sp>
      <p:sp>
        <p:nvSpPr>
          <p:cNvPr id="16" name="Shape 14"/>
          <p:cNvSpPr/>
          <p:nvPr/>
        </p:nvSpPr>
        <p:spPr>
          <a:xfrm>
            <a:off x="9528048" y="1965960"/>
            <a:ext cx="2148840" cy="1005840"/>
          </a:xfrm>
          <a:prstGeom prst="roundRect">
            <a:avLst>
              <a:gd name="adj" fmla="val 7273"/>
            </a:avLst>
          </a:prstGeom>
          <a:solidFill>
            <a:srgbClr val="E8A33D"/>
          </a:solidFill>
          <a:ln/>
        </p:spPr>
      </p:sp>
      <p:sp>
        <p:nvSpPr>
          <p:cNvPr id="17" name="Text 15"/>
          <p:cNvSpPr/>
          <p:nvPr/>
        </p:nvSpPr>
        <p:spPr>
          <a:xfrm>
            <a:off x="9601200" y="1965960"/>
            <a:ext cx="2002536" cy="100584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CD: deploy hook</a:t>
            </a:r>
            <a:endParaRPr lang="en-US" sz="1200" dirty="0"/>
          </a:p>
          <a:p>
            <a:pPr algn="ctr" indent="0" marL="0">
              <a:buNone/>
            </a:pPr>
            <a:r>
              <a:rPr lang="en-US" sz="1200" b="1" dirty="0">
                <a:solidFill>
                  <a:srgbClr val="FFFFFF"/>
                </a:solidFill>
                <a:latin typeface="Calibri" pitchFamily="34" charset="0"/>
                <a:ea typeface="Calibri" pitchFamily="34" charset="-122"/>
                <a:cs typeface="Calibri" pitchFamily="34" charset="-120"/>
              </a:rPr>
              <a:t>(main branch only)</a:t>
            </a:r>
            <a:endParaRPr lang="en-US" sz="1200" dirty="0"/>
          </a:p>
        </p:txBody>
      </p:sp>
      <p:sp>
        <p:nvSpPr>
          <p:cNvPr id="18" name="Text 16"/>
          <p:cNvSpPr/>
          <p:nvPr/>
        </p:nvSpPr>
        <p:spPr>
          <a:xfrm>
            <a:off x="548640" y="3246120"/>
            <a:ext cx="10789920" cy="457200"/>
          </a:xfrm>
          <a:prstGeom prst="rect">
            <a:avLst/>
          </a:prstGeom>
          <a:noFill/>
          <a:ln/>
        </p:spPr>
        <p:txBody>
          <a:bodyPr wrap="square" rtlCol="0" anchor="ctr"/>
          <a:lstStyle/>
          <a:p>
            <a:pPr indent="0" marL="0">
              <a:buNone/>
            </a:pPr>
            <a:r>
              <a:rPr lang="en-US" sz="1300" i="1" dirty="0">
                <a:solidFill>
                  <a:srgbClr val="6B7A88"/>
                </a:solidFill>
                <a:latin typeface="Calibri" pitchFamily="34" charset="0"/>
                <a:ea typeface="Calibri" pitchFamily="34" charset="-122"/>
                <a:cs typeface="Calibri" pitchFamily="34" charset="-120"/>
              </a:rPr>
              <a:t>If any stage fails, the chain stops -- Render just keeps serving whatever last deployed successfully. That's our rollback.</a:t>
            </a:r>
            <a:endParaRPr lang="en-US" sz="1300" dirty="0"/>
          </a:p>
        </p:txBody>
      </p:sp>
      <p:sp>
        <p:nvSpPr>
          <p:cNvPr id="19" name="Shape 17"/>
          <p:cNvSpPr/>
          <p:nvPr/>
        </p:nvSpPr>
        <p:spPr>
          <a:xfrm>
            <a:off x="548640" y="3977640"/>
            <a:ext cx="10789920" cy="1737360"/>
          </a:xfrm>
          <a:prstGeom prst="roundRect">
            <a:avLst>
              <a:gd name="adj" fmla="val 5263"/>
            </a:avLst>
          </a:prstGeom>
          <a:solidFill>
            <a:srgbClr val="F2F6F9"/>
          </a:solidFill>
          <a:ln/>
        </p:spPr>
      </p:sp>
      <p:sp>
        <p:nvSpPr>
          <p:cNvPr id="20" name="Text 18"/>
          <p:cNvSpPr/>
          <p:nvPr/>
        </p:nvSpPr>
        <p:spPr>
          <a:xfrm>
            <a:off x="822960" y="4160520"/>
            <a:ext cx="5486400" cy="32004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An honest scoping call</a:t>
            </a:r>
            <a:endParaRPr lang="en-US" sz="1400" dirty="0"/>
          </a:p>
        </p:txBody>
      </p:sp>
      <p:sp>
        <p:nvSpPr>
          <p:cNvPr id="21" name="Text 19"/>
          <p:cNvSpPr/>
          <p:nvPr/>
        </p:nvSpPr>
        <p:spPr>
          <a:xfrm>
            <a:off x="822960" y="4526280"/>
            <a:ext cx="10241280" cy="1097280"/>
          </a:xfrm>
          <a:prstGeom prst="rect">
            <a:avLst/>
          </a:prstGeom>
          <a:noFill/>
          <a:ln/>
        </p:spPr>
        <p:txBody>
          <a:bodyPr wrap="square" rtlCol="0" anchor="t"/>
          <a:lstStyle/>
          <a:p>
            <a:pPr indent="0" marL="0">
              <a:buNone/>
            </a:pPr>
            <a:r>
              <a:rPr lang="en-US" sz="1300" dirty="0">
                <a:solidFill>
                  <a:srgbClr val="23303D"/>
                </a:solidFill>
                <a:latin typeface="Calibri" pitchFamily="34" charset="0"/>
                <a:ea typeface="Calibri" pitchFamily="34" charset="-122"/>
                <a:cs typeface="Calibri" pitchFamily="34" charset="-120"/>
              </a:rPr>
              <a:t>Lint and test are scoped to app/ and tests/ (Phase 2 code), not src/ (Phase 1, already graded). We didn't want to silently reformat already-submitted code just to make a lint job green -- that's a documented, deliberate decision, not an oversight.</a:t>
            </a:r>
            <a:endParaRPr lang="en-US" sz="1300" dirty="0"/>
          </a:p>
        </p:txBody>
      </p:sp>
      <p:sp>
        <p:nvSpPr>
          <p:cNvPr id="22" name="Text 20"/>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7</a:t>
            </a:r>
            <a:endParaRPr lang="en-US" sz="1000" dirty="0"/>
          </a:p>
        </p:txBody>
      </p:sp>
      <p:sp>
        <p:nvSpPr>
          <p:cNvPr id="23" name="Text 21"/>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Jaskaran Singh  </a:t>
            </a:r>
            <a:pPr algn="l" indent="0" marL="0">
              <a:buNone/>
            </a:pPr>
            <a:r>
              <a:rPr lang="en-US" sz="1100" i="1" dirty="0">
                <a:solidFill>
                  <a:srgbClr val="6B7A88"/>
                </a:solidFill>
                <a:latin typeface="Calibri" pitchFamily="34" charset="0"/>
                <a:ea typeface="Calibri" pitchFamily="34" charset="-122"/>
                <a:cs typeface="Calibri" pitchFamily="34" charset="-120"/>
              </a:rPr>
              <a:t>Project Lead</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1828800" y="-1828800"/>
            <a:ext cx="5486400" cy="5486400"/>
          </a:xfrm>
          <a:prstGeom prst="ellipse">
            <a:avLst/>
          </a:prstGeom>
          <a:solidFill>
            <a:srgbClr val="065A82">
              <a:alpha val="45000"/>
            </a:srgbClr>
          </a:solidFill>
          <a:ln/>
        </p:spPr>
      </p:sp>
      <p:sp>
        <p:nvSpPr>
          <p:cNvPr id="3" name="Text 1"/>
          <p:cNvSpPr/>
          <p:nvPr/>
        </p:nvSpPr>
        <p:spPr>
          <a:xfrm>
            <a:off x="731520" y="1280160"/>
            <a:ext cx="7315200" cy="457200"/>
          </a:xfrm>
          <a:prstGeom prst="rect">
            <a:avLst/>
          </a:prstGeom>
          <a:noFill/>
          <a:ln/>
        </p:spPr>
        <p:txBody>
          <a:bodyPr wrap="square" rtlCol="0" anchor="ctr"/>
          <a:lstStyle/>
          <a:p>
            <a:pPr indent="0" marL="0">
              <a:buNone/>
            </a:pPr>
            <a:r>
              <a:rPr lang="en-US" sz="1400" b="1" spc="300" kern="0" dirty="0">
                <a:solidFill>
                  <a:srgbClr val="E8A33D"/>
                </a:solidFill>
                <a:latin typeface="Calibri" pitchFamily="34" charset="0"/>
                <a:ea typeface="Calibri" pitchFamily="34" charset="-122"/>
                <a:cs typeface="Calibri" pitchFamily="34" charset="-120"/>
              </a:rPr>
              <a:t>LIVE DEMO</a:t>
            </a:r>
            <a:endParaRPr lang="en-US" sz="1400" dirty="0"/>
          </a:p>
        </p:txBody>
      </p:sp>
      <p:sp>
        <p:nvSpPr>
          <p:cNvPr id="4" name="Text 2"/>
          <p:cNvSpPr/>
          <p:nvPr/>
        </p:nvSpPr>
        <p:spPr>
          <a:xfrm>
            <a:off x="731520" y="1737360"/>
            <a:ext cx="9144000" cy="91440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Let's hit the real thing</a:t>
            </a:r>
            <a:endParaRPr lang="en-US" sz="3600" dirty="0"/>
          </a:p>
        </p:txBody>
      </p:sp>
      <p:sp>
        <p:nvSpPr>
          <p:cNvPr id="5" name="Text 3"/>
          <p:cNvSpPr/>
          <p:nvPr/>
        </p:nvSpPr>
        <p:spPr>
          <a:xfrm>
            <a:off x="731520" y="2834640"/>
            <a:ext cx="9601200" cy="2377440"/>
          </a:xfrm>
          <a:prstGeom prst="rect">
            <a:avLst/>
          </a:prstGeom>
          <a:noFill/>
          <a:ln/>
        </p:spPr>
        <p:txBody>
          <a:bodyPr wrap="square" rtlCol="0" anchor="ctr"/>
          <a:lstStyle/>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GET /health  -- confirm the deployed service is up</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GET /docs  -- interactive Swagger UI, generated schema</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POST /predict  -- score a real student record live</a:t>
            </a:r>
            <a:endParaRPr lang="en-US" sz="1700" dirty="0"/>
          </a:p>
          <a:p>
            <a:pPr marL="342900" indent="-342900">
              <a:spcAft>
                <a:spcPts val="1400"/>
              </a:spcAft>
              <a:buSzPct val="100000"/>
              <a:buChar char="▸"/>
            </a:pPr>
            <a:r>
              <a:rPr lang="en-US" sz="1700" dirty="0">
                <a:solidFill>
                  <a:srgbClr val="FFFFFF"/>
                </a:solidFill>
                <a:latin typeface="Calibri" pitchFamily="34" charset="0"/>
                <a:ea typeface="Calibri" pitchFamily="34" charset="-122"/>
                <a:cs typeface="Calibri" pitchFamily="34" charset="-120"/>
              </a:rPr>
              <a:t>python src/monitor_drift.py --simulate-drift  -- show an EvidentlyAI report catching drift</a:t>
            </a:r>
            <a:endParaRPr lang="en-US" sz="1700" dirty="0"/>
          </a:p>
        </p:txBody>
      </p:sp>
      <p:sp>
        <p:nvSpPr>
          <p:cNvPr id="6" name="Text 4"/>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8</a:t>
            </a:r>
            <a:endParaRPr lang="en-US" sz="1000" dirty="0"/>
          </a:p>
        </p:txBody>
      </p:sp>
      <p:sp>
        <p:nvSpPr>
          <p:cNvPr id="7" name="Text 5"/>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drives the demo -- Jaskaran narrates</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WEEK 9: MONITORING</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Catching Drift Before Users Do</a:t>
            </a:r>
            <a:endParaRPr lang="en-US" sz="3200" dirty="0"/>
          </a:p>
        </p:txBody>
      </p:sp>
      <p:sp>
        <p:nvSpPr>
          <p:cNvPr id="4" name="Text 2"/>
          <p:cNvSpPr/>
          <p:nvPr/>
        </p:nvSpPr>
        <p:spPr>
          <a:xfrm>
            <a:off x="548640" y="1600200"/>
            <a:ext cx="10789920" cy="457200"/>
          </a:xfrm>
          <a:prstGeom prst="rect">
            <a:avLst/>
          </a:prstGeom>
          <a:noFill/>
          <a:ln/>
        </p:spPr>
        <p:txBody>
          <a:bodyPr wrap="square" rtlCol="0" anchor="ctr"/>
          <a:lstStyle/>
          <a:p>
            <a:pPr indent="0" marL="0">
              <a:buNone/>
            </a:pPr>
            <a:r>
              <a:rPr lang="en-US" sz="1400" i="1" dirty="0">
                <a:solidFill>
                  <a:srgbClr val="6B7A88"/>
                </a:solidFill>
                <a:latin typeface="Calibri" pitchFamily="34" charset="0"/>
                <a:ea typeface="Calibri" pitchFamily="34" charset="-122"/>
                <a:cs typeface="Calibri" pitchFamily="34" charset="-120"/>
              </a:rPr>
              <a:t>"Models don't degrade because code changes. They degrade because the world changes."</a:t>
            </a:r>
            <a:endParaRPr lang="en-US" sz="1400" dirty="0"/>
          </a:p>
        </p:txBody>
      </p:sp>
      <p:sp>
        <p:nvSpPr>
          <p:cNvPr id="5" name="Shape 3"/>
          <p:cNvSpPr/>
          <p:nvPr/>
        </p:nvSpPr>
        <p:spPr>
          <a:xfrm>
            <a:off x="548640" y="2286000"/>
            <a:ext cx="3291840" cy="2651760"/>
          </a:xfrm>
          <a:prstGeom prst="roundRect">
            <a:avLst>
              <a:gd name="adj" fmla="val 3448"/>
            </a:avLst>
          </a:prstGeom>
          <a:solidFill>
            <a:srgbClr val="0B2545"/>
          </a:solidFill>
          <a:ln/>
        </p:spPr>
      </p:sp>
      <p:sp>
        <p:nvSpPr>
          <p:cNvPr id="6" name="Text 4"/>
          <p:cNvSpPr/>
          <p:nvPr/>
        </p:nvSpPr>
        <p:spPr>
          <a:xfrm>
            <a:off x="548640" y="2606040"/>
            <a:ext cx="3291840" cy="914400"/>
          </a:xfrm>
          <a:prstGeom prst="rect">
            <a:avLst/>
          </a:prstGeom>
          <a:noFill/>
          <a:ln/>
        </p:spPr>
        <p:txBody>
          <a:bodyPr wrap="square" rtlCol="0" anchor="ctr"/>
          <a:lstStyle/>
          <a:p>
            <a:pPr algn="ctr" indent="0" marL="0">
              <a:buNone/>
            </a:pPr>
            <a:r>
              <a:rPr lang="en-US" sz="4800" b="1" dirty="0">
                <a:solidFill>
                  <a:srgbClr val="E8A33D"/>
                </a:solidFill>
                <a:latin typeface="Cambria" pitchFamily="34" charset="0"/>
                <a:ea typeface="Cambria" pitchFamily="34" charset="-122"/>
                <a:cs typeface="Cambria" pitchFamily="34" charset="-120"/>
              </a:rPr>
              <a:t>2 / 5</a:t>
            </a:r>
            <a:endParaRPr lang="en-US" sz="4800" dirty="0"/>
          </a:p>
        </p:txBody>
      </p:sp>
      <p:sp>
        <p:nvSpPr>
          <p:cNvPr id="7" name="Text 5"/>
          <p:cNvSpPr/>
          <p:nvPr/>
        </p:nvSpPr>
        <p:spPr>
          <a:xfrm>
            <a:off x="822960" y="3566160"/>
            <a:ext cx="2743200" cy="1280160"/>
          </a:xfrm>
          <a:prstGeom prst="rect">
            <a:avLst/>
          </a:prstGeom>
          <a:noFill/>
          <a:ln/>
        </p:spPr>
        <p:txBody>
          <a:bodyPr wrap="square" rtlCol="0" anchor="ctr"/>
          <a:lstStyle/>
          <a:p>
            <a:pPr algn="ctr" indent="0" marL="0">
              <a:buNone/>
            </a:pPr>
            <a:r>
              <a:rPr lang="en-US" sz="1250" dirty="0">
                <a:solidFill>
                  <a:srgbClr val="CADCFC"/>
                </a:solidFill>
                <a:latin typeface="Calibri" pitchFamily="34" charset="0"/>
                <a:ea typeface="Calibri" pitchFamily="34" charset="-122"/>
                <a:cs typeface="Calibri" pitchFamily="34" charset="-120"/>
              </a:rPr>
              <a:t>features flagged as drifted in our simulated-drift demo run (age, unemployment rate perturbed)</a:t>
            </a:r>
            <a:endParaRPr lang="en-US" sz="1250" dirty="0"/>
          </a:p>
        </p:txBody>
      </p:sp>
      <p:sp>
        <p:nvSpPr>
          <p:cNvPr id="8" name="Text 6"/>
          <p:cNvSpPr/>
          <p:nvPr/>
        </p:nvSpPr>
        <p:spPr>
          <a:xfrm>
            <a:off x="4206240" y="2286000"/>
            <a:ext cx="7132320" cy="2651760"/>
          </a:xfrm>
          <a:prstGeom prst="rect">
            <a:avLst/>
          </a:prstGeom>
          <a:noFill/>
          <a:ln/>
        </p:spPr>
        <p:txBody>
          <a:bodyPr wrap="square" rtlCol="0" anchor="t"/>
          <a:lstStyle/>
          <a:p>
            <a:pPr marL="342900" indent="-342900">
              <a:spcAft>
                <a:spcPts val="1200"/>
              </a:spcAft>
              <a:buSzPct val="100000"/>
              <a:buChar char="•"/>
            </a:pPr>
            <a:r>
              <a:rPr lang="en-US" sz="1350" dirty="0">
                <a:solidFill>
                  <a:srgbClr val="23303D"/>
                </a:solidFill>
                <a:latin typeface="Calibri" pitchFamily="34" charset="0"/>
                <a:ea typeface="Calibri" pitchFamily="34" charset="-122"/>
                <a:cs typeface="Calibri" pitchFamily="34" charset="-120"/>
              </a:rPr>
              <a:t>Reference = data/processed/train.csv (what the model learned)</a:t>
            </a:r>
            <a:endParaRPr lang="en-US" sz="1350" dirty="0"/>
          </a:p>
          <a:p>
            <a:pPr marL="342900" indent="-342900">
              <a:spcAft>
                <a:spcPts val="1200"/>
              </a:spcAft>
              <a:buSzPct val="100000"/>
              <a:buChar char="•"/>
            </a:pPr>
            <a:r>
              <a:rPr lang="en-US" sz="1350" dirty="0">
                <a:solidFill>
                  <a:srgbClr val="23303D"/>
                </a:solidFill>
                <a:latin typeface="Calibri" pitchFamily="34" charset="0"/>
                <a:ea typeface="Calibri" pitchFamily="34" charset="-122"/>
                <a:cs typeface="Calibri" pitchFamily="34" charset="-120"/>
              </a:rPr>
              <a:t>Current = live traffic from logs/predictions.csv, via GET /monitoring/recent-predictions</a:t>
            </a:r>
            <a:endParaRPr lang="en-US" sz="1350" dirty="0"/>
          </a:p>
          <a:p>
            <a:pPr marL="342900" indent="-342900">
              <a:spcAft>
                <a:spcPts val="1200"/>
              </a:spcAft>
              <a:buSzPct val="100000"/>
              <a:buChar char="•"/>
            </a:pPr>
            <a:r>
              <a:rPr lang="en-US" sz="1350" dirty="0">
                <a:solidFill>
                  <a:srgbClr val="23303D"/>
                </a:solidFill>
                <a:latin typeface="Calibri" pitchFamily="34" charset="0"/>
                <a:ea typeface="Calibri" pitchFamily="34" charset="-122"/>
                <a:cs typeface="Calibri" pitchFamily="34" charset="-120"/>
              </a:rPr>
              <a:t>Kolmogorov-Smirnov test per numeric feature, Population Stability Index overall</a:t>
            </a:r>
            <a:endParaRPr lang="en-US" sz="1350" dirty="0"/>
          </a:p>
          <a:p>
            <a:pPr marL="342900" indent="-342900">
              <a:spcAft>
                <a:spcPts val="1200"/>
              </a:spcAft>
              <a:buSzPct val="100000"/>
              <a:buChar char="•"/>
            </a:pPr>
            <a:r>
              <a:rPr lang="en-US" sz="1350" dirty="0">
                <a:solidFill>
                  <a:srgbClr val="23303D"/>
                </a:solidFill>
                <a:latin typeface="Calibri" pitchFamily="34" charset="0"/>
                <a:ea typeface="Calibri" pitchFamily="34" charset="-122"/>
                <a:cs typeface="Calibri" pitchFamily="34" charset="-120"/>
              </a:rPr>
              <a:t>HTML report + JSON summary written to monitoring/reports/</a:t>
            </a:r>
            <a:endParaRPr lang="en-US" sz="1350" dirty="0"/>
          </a:p>
        </p:txBody>
      </p:sp>
      <p:sp>
        <p:nvSpPr>
          <p:cNvPr id="9" name="Text 7"/>
          <p:cNvSpPr/>
          <p:nvPr/>
        </p:nvSpPr>
        <p:spPr>
          <a:xfrm>
            <a:off x="548640" y="5166360"/>
            <a:ext cx="10789920" cy="457200"/>
          </a:xfrm>
          <a:prstGeom prst="rect">
            <a:avLst/>
          </a:prstGeom>
          <a:noFill/>
          <a:ln/>
        </p:spPr>
        <p:txBody>
          <a:bodyPr wrap="square"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Deliberately conservative: a couple of columns drifting doesn't flip the overall dataset_drift flag -- avoids alert fatigue (Week 9).</a:t>
            </a:r>
            <a:endParaRPr lang="en-US" sz="1250" dirty="0"/>
          </a:p>
        </p:txBody>
      </p:sp>
      <p:sp>
        <p:nvSpPr>
          <p:cNvPr id="10" name="Text 8"/>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9</a:t>
            </a:r>
            <a:endParaRPr lang="en-US" sz="1000" dirty="0"/>
          </a:p>
        </p:txBody>
      </p:sp>
      <p:sp>
        <p:nvSpPr>
          <p:cNvPr id="11" name="Text 9"/>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ML / Engineering Lead</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WEEK 10: CONTINUOUS TRAINING</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Retraining Triggers &amp; Promotion</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5852160" cy="914400"/>
        </p:xfrm>
        <a:graphic>
          <a:graphicData uri="http://schemas.openxmlformats.org/drawingml/2006/table">
            <a:tbl>
              <a:tblPr/>
              <a:tblGrid>
                <a:gridCol w="2011680"/>
                <a:gridCol w="3840480"/>
              </a:tblGrid>
              <a:tr h="5669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Trigger</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Implementation</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Time-based</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Weekly cron in retrain.yml (Monday 06:00 UTC)</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Performance-based</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Accuracy drop &gt; 5% vs. committed metrics.json baseline</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r h="566928">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Data-based</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c>
                  <a:txBody>
                    <a:bodyPr/>
                    <a:lstStyle/>
                    <a:p>
                      <a:pPr indent="0" marL="0">
                        <a:buNone/>
                      </a:pPr>
                      <a:r>
                        <a:rPr lang="en-US" sz="1250" dirty="0">
                          <a:solidFill>
                            <a:srgbClr val="23303D"/>
                          </a:solidFill>
                          <a:latin typeface="Calibri" pitchFamily="34" charset="0"/>
                          <a:ea typeface="Calibri" pitchFamily="34" charset="-122"/>
                          <a:cs typeface="Calibri" pitchFamily="34" charset="-120"/>
                        </a:rPr>
                        <a:t>dataset_drift flag from monitor_drift.py</a:t>
                      </a:r>
                      <a:endParaRPr lang="en-US" sz="1250" dirty="0">
                        <a:latin typeface="Calibri" charset="0"/>
                        <a:ea typeface="Calibri" charset="0"/>
                        <a:cs typeface="Calibri" charset="0"/>
                      </a:endParaRPr>
                    </a:p>
                  </a:txBody>
                  <a:tcPr marL="91440" marR="91440" marT="45720" marB="45720">
                    <a:lnL w="12700" cap="flat" cmpd="sng" algn="ctr">
                      <a:solidFill>
                        <a:srgbClr val="DCE6ED"/>
                      </a:solidFill>
                      <a:prstDash val="solid"/>
                      <a:round/>
                      <a:headEnd type="none" w="med" len="med"/>
                      <a:tailEnd type="none" w="med" len="med"/>
                    </a:lnL>
                    <a:lnR w="12700" cap="flat" cmpd="sng" algn="ctr">
                      <a:solidFill>
                        <a:srgbClr val="DCE6ED"/>
                      </a:solidFill>
                      <a:prstDash val="solid"/>
                      <a:round/>
                      <a:headEnd type="none" w="med" len="med"/>
                      <a:tailEnd type="none" w="med" len="med"/>
                    </a:lnR>
                    <a:lnT w="12700" cap="flat" cmpd="sng" algn="ctr">
                      <a:solidFill>
                        <a:srgbClr val="DCE6ED"/>
                      </a:solidFill>
                      <a:prstDash val="solid"/>
                      <a:round/>
                      <a:headEnd type="none" w="med" len="med"/>
                      <a:tailEnd type="none" w="med" len="med"/>
                    </a:lnT>
                    <a:lnB w="12700" cap="flat" cmpd="sng" algn="ctr">
                      <a:solidFill>
                        <a:srgbClr val="DCE6ED"/>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1828800"/>
            <a:ext cx="5852160" cy="457200"/>
          </a:xfrm>
          <a:prstGeom prst="rect">
            <a:avLst/>
          </a:prstGeom>
          <a:solidFill>
            <a:srgbClr val="065A82"/>
          </a:solidFill>
          <a:ln/>
        </p:spPr>
      </p:sp>
      <p:sp>
        <p:nvSpPr>
          <p:cNvPr id="6" name="Text 3"/>
          <p:cNvSpPr/>
          <p:nvPr/>
        </p:nvSpPr>
        <p:spPr>
          <a:xfrm>
            <a:off x="548640" y="1828800"/>
            <a:ext cx="2011680" cy="457200"/>
          </a:xfrm>
          <a:prstGeom prst="rect">
            <a:avLst/>
          </a:prstGeom>
          <a:noFill/>
          <a:ln/>
        </p:spPr>
        <p:txBody>
          <a:bodyPr wrap="square" lIns="91440" tIns="91440" rIns="91440" bIns="9144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Trigger</a:t>
            </a:r>
            <a:endParaRPr lang="en-US" sz="1250" dirty="0"/>
          </a:p>
        </p:txBody>
      </p:sp>
      <p:sp>
        <p:nvSpPr>
          <p:cNvPr id="7" name="Text 4"/>
          <p:cNvSpPr/>
          <p:nvPr/>
        </p:nvSpPr>
        <p:spPr>
          <a:xfrm>
            <a:off x="2560320" y="1828800"/>
            <a:ext cx="3840480" cy="457200"/>
          </a:xfrm>
          <a:prstGeom prst="rect">
            <a:avLst/>
          </a:prstGeom>
          <a:noFill/>
          <a:ln/>
        </p:spPr>
        <p:txBody>
          <a:bodyPr wrap="square" lIns="91440" tIns="91440" rIns="91440" bIns="9144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Implementation</a:t>
            </a:r>
            <a:endParaRPr lang="en-US" sz="1250" dirty="0"/>
          </a:p>
        </p:txBody>
      </p:sp>
      <p:sp>
        <p:nvSpPr>
          <p:cNvPr id="8" name="Text 5"/>
          <p:cNvSpPr/>
          <p:nvPr/>
        </p:nvSpPr>
        <p:spPr>
          <a:xfrm>
            <a:off x="6720840" y="1828800"/>
            <a:ext cx="4937760" cy="365760"/>
          </a:xfrm>
          <a:prstGeom prst="rect">
            <a:avLst/>
          </a:prstGeom>
          <a:noFill/>
          <a:ln/>
        </p:spPr>
        <p:txBody>
          <a:bodyPr wrap="square" rtlCol="0" anchor="ctr"/>
          <a:lstStyle/>
          <a:p>
            <a:pPr indent="0" marL="0">
              <a:buNone/>
            </a:pPr>
            <a:r>
              <a:rPr lang="en-US" sz="1400" b="1" dirty="0">
                <a:solidFill>
                  <a:srgbClr val="0B2545"/>
                </a:solidFill>
                <a:latin typeface="Calibri" pitchFamily="34" charset="0"/>
                <a:ea typeface="Calibri" pitchFamily="34" charset="-122"/>
                <a:cs typeface="Calibri" pitchFamily="34" charset="-120"/>
              </a:rPr>
              <a:t>Model promotion flow</a:t>
            </a:r>
            <a:endParaRPr lang="en-US" sz="1400" dirty="0"/>
          </a:p>
        </p:txBody>
      </p:sp>
      <p:sp>
        <p:nvSpPr>
          <p:cNvPr id="9" name="Shape 6"/>
          <p:cNvSpPr/>
          <p:nvPr/>
        </p:nvSpPr>
        <p:spPr>
          <a:xfrm>
            <a:off x="6720840" y="2240280"/>
            <a:ext cx="4937760" cy="502920"/>
          </a:xfrm>
          <a:prstGeom prst="roundRect">
            <a:avLst>
              <a:gd name="adj" fmla="val 10909"/>
            </a:avLst>
          </a:prstGeom>
          <a:solidFill>
            <a:srgbClr val="F2F6F9"/>
          </a:solidFill>
          <a:ln/>
        </p:spPr>
      </p:sp>
      <p:sp>
        <p:nvSpPr>
          <p:cNvPr id="10" name="Text 7"/>
          <p:cNvSpPr/>
          <p:nvPr/>
        </p:nvSpPr>
        <p:spPr>
          <a:xfrm>
            <a:off x="6858000" y="2240280"/>
            <a:ext cx="4663440" cy="502920"/>
          </a:xfrm>
          <a:prstGeom prst="rect">
            <a:avLst/>
          </a:prstGeom>
          <a:noFill/>
          <a:ln/>
        </p:spPr>
        <p:txBody>
          <a:bodyPr wrap="square" rtlCol="0" anchor="ctr"/>
          <a:lstStyle/>
          <a:p>
            <a:pPr indent="0" marL="0">
              <a:buNone/>
            </a:pPr>
            <a:r>
              <a:rPr lang="en-US" sz="1200" dirty="0">
                <a:solidFill>
                  <a:srgbClr val="23303D"/>
                </a:solidFill>
                <a:latin typeface="Calibri" pitchFamily="34" charset="0"/>
                <a:ea typeface="Calibri" pitchFamily="34" charset="-122"/>
                <a:cs typeface="Calibri" pitchFamily="34" charset="-120"/>
              </a:rPr>
              <a:t>Trigger fires</a:t>
            </a:r>
            <a:endParaRPr lang="en-US" sz="1200" dirty="0"/>
          </a:p>
        </p:txBody>
      </p:sp>
      <p:sp>
        <p:nvSpPr>
          <p:cNvPr id="11" name="Shape 8"/>
          <p:cNvSpPr/>
          <p:nvPr/>
        </p:nvSpPr>
        <p:spPr>
          <a:xfrm>
            <a:off x="9052560" y="2743200"/>
            <a:ext cx="201168" cy="128016"/>
          </a:xfrm>
          <a:prstGeom prst="downArrow">
            <a:avLst/>
          </a:prstGeom>
          <a:solidFill>
            <a:srgbClr val="6B7A88"/>
          </a:solidFill>
          <a:ln/>
        </p:spPr>
      </p:sp>
      <p:sp>
        <p:nvSpPr>
          <p:cNvPr id="12" name="Shape 9"/>
          <p:cNvSpPr/>
          <p:nvPr/>
        </p:nvSpPr>
        <p:spPr>
          <a:xfrm>
            <a:off x="6720840" y="2871216"/>
            <a:ext cx="4937760" cy="502920"/>
          </a:xfrm>
          <a:prstGeom prst="roundRect">
            <a:avLst>
              <a:gd name="adj" fmla="val 10909"/>
            </a:avLst>
          </a:prstGeom>
          <a:solidFill>
            <a:srgbClr val="F2F6F9"/>
          </a:solidFill>
          <a:ln/>
        </p:spPr>
      </p:sp>
      <p:sp>
        <p:nvSpPr>
          <p:cNvPr id="13" name="Text 10"/>
          <p:cNvSpPr/>
          <p:nvPr/>
        </p:nvSpPr>
        <p:spPr>
          <a:xfrm>
            <a:off x="6858000" y="2871216"/>
            <a:ext cx="4663440" cy="502920"/>
          </a:xfrm>
          <a:prstGeom prst="rect">
            <a:avLst/>
          </a:prstGeom>
          <a:noFill/>
          <a:ln/>
        </p:spPr>
        <p:txBody>
          <a:bodyPr wrap="square" rtlCol="0" anchor="ctr"/>
          <a:lstStyle/>
          <a:p>
            <a:pPr indent="0" marL="0">
              <a:buNone/>
            </a:pPr>
            <a:r>
              <a:rPr lang="en-US" sz="1200" dirty="0">
                <a:solidFill>
                  <a:srgbClr val="23303D"/>
                </a:solidFill>
                <a:latin typeface="Calibri" pitchFamily="34" charset="0"/>
                <a:ea typeface="Calibri" pitchFamily="34" charset="-122"/>
                <a:cs typeface="Calibri" pitchFamily="34" charset="-120"/>
              </a:rPr>
              <a:t>dvc repro (retrain)</a:t>
            </a:r>
            <a:endParaRPr lang="en-US" sz="1200" dirty="0"/>
          </a:p>
        </p:txBody>
      </p:sp>
      <p:sp>
        <p:nvSpPr>
          <p:cNvPr id="14" name="Shape 11"/>
          <p:cNvSpPr/>
          <p:nvPr/>
        </p:nvSpPr>
        <p:spPr>
          <a:xfrm>
            <a:off x="9052560" y="3374136"/>
            <a:ext cx="201168" cy="128016"/>
          </a:xfrm>
          <a:prstGeom prst="downArrow">
            <a:avLst/>
          </a:prstGeom>
          <a:solidFill>
            <a:srgbClr val="6B7A88"/>
          </a:solidFill>
          <a:ln/>
        </p:spPr>
      </p:sp>
      <p:sp>
        <p:nvSpPr>
          <p:cNvPr id="15" name="Shape 12"/>
          <p:cNvSpPr/>
          <p:nvPr/>
        </p:nvSpPr>
        <p:spPr>
          <a:xfrm>
            <a:off x="6720840" y="3502152"/>
            <a:ext cx="4937760" cy="502920"/>
          </a:xfrm>
          <a:prstGeom prst="roundRect">
            <a:avLst>
              <a:gd name="adj" fmla="val 10909"/>
            </a:avLst>
          </a:prstGeom>
          <a:solidFill>
            <a:srgbClr val="F2F6F9"/>
          </a:solidFill>
          <a:ln/>
        </p:spPr>
      </p:sp>
      <p:sp>
        <p:nvSpPr>
          <p:cNvPr id="16" name="Text 13"/>
          <p:cNvSpPr/>
          <p:nvPr/>
        </p:nvSpPr>
        <p:spPr>
          <a:xfrm>
            <a:off x="6858000" y="3502152"/>
            <a:ext cx="4663440" cy="502920"/>
          </a:xfrm>
          <a:prstGeom prst="rect">
            <a:avLst/>
          </a:prstGeom>
          <a:noFill/>
          <a:ln/>
        </p:spPr>
        <p:txBody>
          <a:bodyPr wrap="square" rtlCol="0" anchor="ctr"/>
          <a:lstStyle/>
          <a:p>
            <a:pPr indent="0" marL="0">
              <a:buNone/>
            </a:pPr>
            <a:r>
              <a:rPr lang="en-US" sz="1200" dirty="0">
                <a:solidFill>
                  <a:srgbClr val="23303D"/>
                </a:solidFill>
                <a:latin typeface="Calibri" pitchFamily="34" charset="0"/>
                <a:ea typeface="Calibri" pitchFamily="34" charset="-122"/>
                <a:cs typeface="Calibri" pitchFamily="34" charset="-120"/>
              </a:rPr>
              <a:t>compare_metrics.py vs. HEAD</a:t>
            </a:r>
            <a:endParaRPr lang="en-US" sz="1200" dirty="0"/>
          </a:p>
        </p:txBody>
      </p:sp>
      <p:sp>
        <p:nvSpPr>
          <p:cNvPr id="17" name="Shape 14"/>
          <p:cNvSpPr/>
          <p:nvPr/>
        </p:nvSpPr>
        <p:spPr>
          <a:xfrm>
            <a:off x="9052560" y="4005072"/>
            <a:ext cx="201168" cy="128016"/>
          </a:xfrm>
          <a:prstGeom prst="downArrow">
            <a:avLst/>
          </a:prstGeom>
          <a:solidFill>
            <a:srgbClr val="6B7A88"/>
          </a:solidFill>
          <a:ln/>
        </p:spPr>
      </p:sp>
      <p:sp>
        <p:nvSpPr>
          <p:cNvPr id="18" name="Shape 15"/>
          <p:cNvSpPr/>
          <p:nvPr/>
        </p:nvSpPr>
        <p:spPr>
          <a:xfrm>
            <a:off x="6720840" y="4133088"/>
            <a:ext cx="4937760" cy="502920"/>
          </a:xfrm>
          <a:prstGeom prst="roundRect">
            <a:avLst>
              <a:gd name="adj" fmla="val 10909"/>
            </a:avLst>
          </a:prstGeom>
          <a:solidFill>
            <a:srgbClr val="F2F6F9"/>
          </a:solidFill>
          <a:ln/>
        </p:spPr>
      </p:sp>
      <p:sp>
        <p:nvSpPr>
          <p:cNvPr id="19" name="Text 16"/>
          <p:cNvSpPr/>
          <p:nvPr/>
        </p:nvSpPr>
        <p:spPr>
          <a:xfrm>
            <a:off x="6858000" y="4133088"/>
            <a:ext cx="4663440" cy="502920"/>
          </a:xfrm>
          <a:prstGeom prst="rect">
            <a:avLst/>
          </a:prstGeom>
          <a:noFill/>
          <a:ln/>
        </p:spPr>
        <p:txBody>
          <a:bodyPr wrap="square" rtlCol="0" anchor="ctr"/>
          <a:lstStyle/>
          <a:p>
            <a:pPr indent="0" marL="0">
              <a:buNone/>
            </a:pPr>
            <a:r>
              <a:rPr lang="en-US" sz="1200" dirty="0">
                <a:solidFill>
                  <a:srgbClr val="23303D"/>
                </a:solidFill>
                <a:latin typeface="Calibri" pitchFamily="34" charset="0"/>
                <a:ea typeface="Calibri" pitchFamily="34" charset="-122"/>
                <a:cs typeface="Calibri" pitchFamily="34" charset="-120"/>
              </a:rPr>
              <a:t>PR opened (never auto-merge)</a:t>
            </a:r>
            <a:endParaRPr lang="en-US" sz="1200" dirty="0"/>
          </a:p>
        </p:txBody>
      </p:sp>
      <p:sp>
        <p:nvSpPr>
          <p:cNvPr id="20" name="Shape 17"/>
          <p:cNvSpPr/>
          <p:nvPr/>
        </p:nvSpPr>
        <p:spPr>
          <a:xfrm>
            <a:off x="9052560" y="4636008"/>
            <a:ext cx="201168" cy="128016"/>
          </a:xfrm>
          <a:prstGeom prst="downArrow">
            <a:avLst/>
          </a:prstGeom>
          <a:solidFill>
            <a:srgbClr val="6B7A88"/>
          </a:solidFill>
          <a:ln/>
        </p:spPr>
      </p:sp>
      <p:sp>
        <p:nvSpPr>
          <p:cNvPr id="21" name="Shape 18"/>
          <p:cNvSpPr/>
          <p:nvPr/>
        </p:nvSpPr>
        <p:spPr>
          <a:xfrm>
            <a:off x="6720840" y="4764024"/>
            <a:ext cx="4937760" cy="502920"/>
          </a:xfrm>
          <a:prstGeom prst="roundRect">
            <a:avLst>
              <a:gd name="adj" fmla="val 10909"/>
            </a:avLst>
          </a:prstGeom>
          <a:solidFill>
            <a:srgbClr val="E8A33D"/>
          </a:solidFill>
          <a:ln/>
        </p:spPr>
      </p:sp>
      <p:sp>
        <p:nvSpPr>
          <p:cNvPr id="22" name="Text 19"/>
          <p:cNvSpPr/>
          <p:nvPr/>
        </p:nvSpPr>
        <p:spPr>
          <a:xfrm>
            <a:off x="6858000" y="4764024"/>
            <a:ext cx="4663440" cy="502920"/>
          </a:xfrm>
          <a:prstGeom prst="rect">
            <a:avLst/>
          </a:prstGeom>
          <a:noFill/>
          <a:ln/>
        </p:spPr>
        <p:txBody>
          <a:bodyPr wrap="square" rtlCol="0" anchor="ctr"/>
          <a:lstStyle/>
          <a:p>
            <a:pPr indent="0" marL="0">
              <a:buNone/>
            </a:pPr>
            <a:r>
              <a:rPr lang="en-US" sz="1200" b="1" dirty="0">
                <a:solidFill>
                  <a:srgbClr val="0B2545"/>
                </a:solidFill>
                <a:latin typeface="Calibri" pitchFamily="34" charset="0"/>
                <a:ea typeface="Calibri" pitchFamily="34" charset="-122"/>
                <a:cs typeface="Calibri" pitchFamily="34" charset="-120"/>
              </a:rPr>
              <a:t>1 human review required</a:t>
            </a:r>
            <a:endParaRPr lang="en-US" sz="1200" dirty="0"/>
          </a:p>
        </p:txBody>
      </p:sp>
      <p:sp>
        <p:nvSpPr>
          <p:cNvPr id="23" name="Text 20"/>
          <p:cNvSpPr/>
          <p:nvPr/>
        </p:nvSpPr>
        <p:spPr>
          <a:xfrm>
            <a:off x="548640" y="5623560"/>
            <a:ext cx="10789920" cy="457200"/>
          </a:xfrm>
          <a:prstGeom prst="rect">
            <a:avLst/>
          </a:prstGeom>
          <a:noFill/>
          <a:ln/>
        </p:spPr>
        <p:txBody>
          <a:bodyPr wrap="square" rtlCol="0" anchor="ctr"/>
          <a:lstStyle/>
          <a:p>
            <a:pPr indent="0" marL="0">
              <a:buNone/>
            </a:pPr>
            <a:r>
              <a:rPr lang="en-US" sz="1250" i="1" dirty="0">
                <a:solidFill>
                  <a:srgbClr val="6B7A88"/>
                </a:solidFill>
                <a:latin typeface="Calibri" pitchFamily="34" charset="0"/>
                <a:ea typeface="Calibri" pitchFamily="34" charset="-122"/>
                <a:cs typeface="Calibri" pitchFamily="34" charset="-120"/>
              </a:rPr>
              <a:t>Branch protection on main (PR + 1 review, from Phase 1) doubles as the human-in-the-loop gate for automated retrains.</a:t>
            </a:r>
            <a:endParaRPr lang="en-US" sz="1250" dirty="0"/>
          </a:p>
        </p:txBody>
      </p:sp>
      <p:sp>
        <p:nvSpPr>
          <p:cNvPr id="24" name="Text 21"/>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10</a:t>
            </a:r>
            <a:endParaRPr lang="en-US" sz="1000" dirty="0"/>
          </a:p>
        </p:txBody>
      </p:sp>
      <p:sp>
        <p:nvSpPr>
          <p:cNvPr id="25" name="Text 22"/>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Eric Rathod  </a:t>
            </a:r>
            <a:pPr algn="l" indent="0" marL="0">
              <a:buNone/>
            </a:pPr>
            <a:r>
              <a:rPr lang="en-US" sz="1100" i="1" dirty="0">
                <a:solidFill>
                  <a:srgbClr val="6B7A88"/>
                </a:solidFill>
                <a:latin typeface="Calibri" pitchFamily="34" charset="0"/>
                <a:ea typeface="Calibri" pitchFamily="34" charset="-122"/>
                <a:cs typeface="Calibri" pitchFamily="34" charset="-120"/>
              </a:rPr>
              <a:t>ML / Engineering Lead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20040"/>
            <a:ext cx="7315200" cy="365760"/>
          </a:xfrm>
          <a:prstGeom prst="rect">
            <a:avLst/>
          </a:prstGeom>
          <a:noFill/>
          <a:ln/>
        </p:spPr>
        <p:txBody>
          <a:bodyPr wrap="square" rtlCol="0" anchor="ctr"/>
          <a:lstStyle/>
          <a:p>
            <a:pPr algn="l" indent="0" marL="0">
              <a:buNone/>
            </a:pPr>
            <a:r>
              <a:rPr lang="en-US" sz="1200" b="1" spc="200" kern="0" dirty="0">
                <a:solidFill>
                  <a:srgbClr val="E8A33D"/>
                </a:solidFill>
                <a:latin typeface="Calibri" pitchFamily="34" charset="0"/>
                <a:ea typeface="Calibri" pitchFamily="34" charset="-122"/>
                <a:cs typeface="Calibri" pitchFamily="34" charset="-120"/>
              </a:rPr>
              <a:t>WEEK 11: GOVERNANCE</a:t>
            </a:r>
            <a:endParaRPr lang="en-US" sz="1200" dirty="0"/>
          </a:p>
        </p:txBody>
      </p:sp>
      <p:sp>
        <p:nvSpPr>
          <p:cNvPr id="3" name="Text 1"/>
          <p:cNvSpPr/>
          <p:nvPr/>
        </p:nvSpPr>
        <p:spPr>
          <a:xfrm>
            <a:off x="548640" y="658368"/>
            <a:ext cx="9601200" cy="822960"/>
          </a:xfrm>
          <a:prstGeom prst="rect">
            <a:avLst/>
          </a:prstGeom>
          <a:noFill/>
          <a:ln/>
        </p:spPr>
        <p:txBody>
          <a:bodyPr wrap="square" rtlCol="0" anchor="ctr"/>
          <a:lstStyle/>
          <a:p>
            <a:pPr algn="l" indent="0" marL="0">
              <a:buNone/>
            </a:pPr>
            <a:r>
              <a:rPr lang="en-US" sz="3200" b="1" dirty="0">
                <a:solidFill>
                  <a:srgbClr val="0B2545"/>
                </a:solidFill>
                <a:latin typeface="Cambria" pitchFamily="34" charset="0"/>
                <a:ea typeface="Cambria" pitchFamily="34" charset="-122"/>
                <a:cs typeface="Cambria" pitchFamily="34" charset="-120"/>
              </a:rPr>
              <a:t>Model Card: Saying the Quiet Part</a:t>
            </a:r>
            <a:endParaRPr lang="en-US" sz="3200" dirty="0"/>
          </a:p>
        </p:txBody>
      </p:sp>
      <p:sp>
        <p:nvSpPr>
          <p:cNvPr id="4" name="Shape 2"/>
          <p:cNvSpPr/>
          <p:nvPr/>
        </p:nvSpPr>
        <p:spPr>
          <a:xfrm>
            <a:off x="548640" y="1828800"/>
            <a:ext cx="5212080" cy="3840480"/>
          </a:xfrm>
          <a:prstGeom prst="roundRect">
            <a:avLst>
              <a:gd name="adj" fmla="val 2381"/>
            </a:avLst>
          </a:prstGeom>
          <a:solidFill>
            <a:srgbClr val="F2F6F9"/>
          </a:solidFill>
          <a:ln/>
        </p:spPr>
      </p:sp>
      <p:sp>
        <p:nvSpPr>
          <p:cNvPr id="5" name="Text 3"/>
          <p:cNvSpPr/>
          <p:nvPr/>
        </p:nvSpPr>
        <p:spPr>
          <a:xfrm>
            <a:off x="822960" y="2011680"/>
            <a:ext cx="4572000" cy="365760"/>
          </a:xfrm>
          <a:prstGeom prst="rect">
            <a:avLst/>
          </a:prstGeom>
          <a:noFill/>
          <a:ln/>
        </p:spPr>
        <p:txBody>
          <a:bodyPr wrap="square" rtlCol="0" anchor="ctr"/>
          <a:lstStyle/>
          <a:p>
            <a:pPr indent="0" marL="0">
              <a:buNone/>
            </a:pPr>
            <a:r>
              <a:rPr lang="en-US" sz="1500" b="1" dirty="0">
                <a:solidFill>
                  <a:srgbClr val="0B2545"/>
                </a:solidFill>
                <a:latin typeface="Calibri" pitchFamily="34" charset="0"/>
                <a:ea typeface="Calibri" pitchFamily="34" charset="-122"/>
                <a:cs typeface="Calibri" pitchFamily="34" charset="-120"/>
              </a:rPr>
              <a:t>docs/model_card.md covers</a:t>
            </a:r>
            <a:endParaRPr lang="en-US" sz="1500" dirty="0"/>
          </a:p>
        </p:txBody>
      </p:sp>
      <p:sp>
        <p:nvSpPr>
          <p:cNvPr id="6" name="Text 4"/>
          <p:cNvSpPr/>
          <p:nvPr/>
        </p:nvSpPr>
        <p:spPr>
          <a:xfrm>
            <a:off x="822960" y="2468880"/>
            <a:ext cx="4663440" cy="3017520"/>
          </a:xfrm>
          <a:prstGeom prst="rect">
            <a:avLst/>
          </a:prstGeom>
          <a:noFill/>
          <a:ln/>
        </p:spPr>
        <p:txBody>
          <a:bodyPr wrap="square" rtlCol="0" anchor="ctr"/>
          <a:lstStyle/>
          <a:p>
            <a:pPr marL="342900" indent="-342900">
              <a:spcAft>
                <a:spcPts val="1200"/>
              </a:spcAft>
              <a:buSzPct val="100000"/>
              <a:buChar char="✓"/>
            </a:pPr>
            <a:r>
              <a:rPr lang="en-US" sz="1300" dirty="0">
                <a:solidFill>
                  <a:srgbClr val="23303D"/>
                </a:solidFill>
                <a:latin typeface="Calibri" pitchFamily="34" charset="0"/>
                <a:ea typeface="Calibri" pitchFamily="34" charset="-122"/>
                <a:cs typeface="Calibri" pitchFamily="34" charset="-120"/>
              </a:rPr>
              <a:t>Intended use / out-of-scope use</a:t>
            </a:r>
            <a:endParaRPr lang="en-US" sz="1300" dirty="0"/>
          </a:p>
          <a:p>
            <a:pPr marL="342900" indent="-342900">
              <a:spcAft>
                <a:spcPts val="1200"/>
              </a:spcAft>
              <a:buSzPct val="100000"/>
              <a:buChar char="✓"/>
            </a:pPr>
            <a:r>
              <a:rPr lang="en-US" sz="1300" dirty="0">
                <a:solidFill>
                  <a:srgbClr val="23303D"/>
                </a:solidFill>
                <a:latin typeface="Calibri" pitchFamily="34" charset="0"/>
                <a:ea typeface="Calibri" pitchFamily="34" charset="-122"/>
                <a:cs typeface="Calibri" pitchFamily="34" charset="-120"/>
              </a:rPr>
              <a:t>Training &amp; evaluation data</a:t>
            </a:r>
            <a:endParaRPr lang="en-US" sz="1300" dirty="0"/>
          </a:p>
          <a:p>
            <a:pPr marL="342900" indent="-342900">
              <a:spcAft>
                <a:spcPts val="1200"/>
              </a:spcAft>
              <a:buSzPct val="100000"/>
              <a:buChar char="✓"/>
            </a:pPr>
            <a:r>
              <a:rPr lang="en-US" sz="1300" dirty="0">
                <a:solidFill>
                  <a:srgbClr val="23303D"/>
                </a:solidFill>
                <a:latin typeface="Calibri" pitchFamily="34" charset="0"/>
                <a:ea typeface="Calibri" pitchFamily="34" charset="-122"/>
                <a:cs typeface="Calibri" pitchFamily="34" charset="-120"/>
              </a:rPr>
              <a:t>Full performance table by class</a:t>
            </a:r>
            <a:endParaRPr lang="en-US" sz="1300" dirty="0"/>
          </a:p>
          <a:p>
            <a:pPr marL="342900" indent="-342900">
              <a:spcAft>
                <a:spcPts val="1200"/>
              </a:spcAft>
              <a:buSzPct val="100000"/>
              <a:buChar char="✓"/>
            </a:pPr>
            <a:r>
              <a:rPr lang="en-US" sz="1300" dirty="0">
                <a:solidFill>
                  <a:srgbClr val="23303D"/>
                </a:solidFill>
                <a:latin typeface="Calibri" pitchFamily="34" charset="0"/>
                <a:ea typeface="Calibri" pitchFamily="34" charset="-122"/>
                <a:cs typeface="Calibri" pitchFamily="34" charset="-120"/>
              </a:rPr>
              <a:t>Monitoring &amp; rollback safeguards</a:t>
            </a:r>
            <a:endParaRPr lang="en-US" sz="1300" dirty="0"/>
          </a:p>
          <a:p>
            <a:pPr marL="342900" indent="-342900">
              <a:spcAft>
                <a:spcPts val="1200"/>
              </a:spcAft>
              <a:buSzPct val="100000"/>
              <a:buChar char="✓"/>
            </a:pPr>
            <a:r>
              <a:rPr lang="en-US" sz="1300" dirty="0">
                <a:solidFill>
                  <a:srgbClr val="23303D"/>
                </a:solidFill>
                <a:latin typeface="Calibri" pitchFamily="34" charset="0"/>
                <a:ea typeface="Calibri" pitchFamily="34" charset="-122"/>
                <a:cs typeface="Calibri" pitchFamily="34" charset="-120"/>
              </a:rPr>
              <a:t>Review ownership + next-review date</a:t>
            </a:r>
            <a:endParaRPr lang="en-US" sz="1300" dirty="0"/>
          </a:p>
        </p:txBody>
      </p:sp>
      <p:sp>
        <p:nvSpPr>
          <p:cNvPr id="7" name="Shape 5"/>
          <p:cNvSpPr/>
          <p:nvPr/>
        </p:nvSpPr>
        <p:spPr>
          <a:xfrm>
            <a:off x="6035040" y="1828800"/>
            <a:ext cx="5577840" cy="3840480"/>
          </a:xfrm>
          <a:prstGeom prst="roundRect">
            <a:avLst>
              <a:gd name="adj" fmla="val 2381"/>
            </a:avLst>
          </a:prstGeom>
          <a:solidFill>
            <a:srgbClr val="0B2545"/>
          </a:solidFill>
          <a:ln/>
        </p:spPr>
      </p:sp>
      <p:sp>
        <p:nvSpPr>
          <p:cNvPr id="8" name="Text 6"/>
          <p:cNvSpPr/>
          <p:nvPr/>
        </p:nvSpPr>
        <p:spPr>
          <a:xfrm>
            <a:off x="6309360" y="2011680"/>
            <a:ext cx="5029200" cy="320040"/>
          </a:xfrm>
          <a:prstGeom prst="rect">
            <a:avLst/>
          </a:prstGeom>
          <a:noFill/>
          <a:ln/>
        </p:spPr>
        <p:txBody>
          <a:bodyPr wrap="square" rtlCol="0" anchor="ctr"/>
          <a:lstStyle/>
          <a:p>
            <a:pPr indent="0" marL="0">
              <a:buNone/>
            </a:pPr>
            <a:r>
              <a:rPr lang="en-US" sz="1100" b="1" spc="150" kern="0" dirty="0">
                <a:solidFill>
                  <a:srgbClr val="E8A33D"/>
                </a:solidFill>
                <a:latin typeface="Calibri" pitchFamily="34" charset="0"/>
                <a:ea typeface="Calibri" pitchFamily="34" charset="-122"/>
                <a:cs typeface="Calibri" pitchFamily="34" charset="-120"/>
              </a:rPr>
              <a:t>THE GAP WE FLAG, NOT HIDE</a:t>
            </a:r>
            <a:endParaRPr lang="en-US" sz="1100" dirty="0"/>
          </a:p>
        </p:txBody>
      </p:sp>
      <p:sp>
        <p:nvSpPr>
          <p:cNvPr id="9" name="Text 7"/>
          <p:cNvSpPr/>
          <p:nvPr/>
        </p:nvSpPr>
        <p:spPr>
          <a:xfrm>
            <a:off x="6309360" y="2377440"/>
            <a:ext cx="5029200" cy="457200"/>
          </a:xfrm>
          <a:prstGeom prst="rect">
            <a:avLst/>
          </a:prstGeom>
          <a:noFill/>
          <a:ln/>
        </p:spPr>
        <p:txBody>
          <a:bodyPr wrap="square"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No formal fairness / bias audit</a:t>
            </a:r>
            <a:endParaRPr lang="en-US" sz="1700" dirty="0"/>
          </a:p>
        </p:txBody>
      </p:sp>
      <p:sp>
        <p:nvSpPr>
          <p:cNvPr id="10" name="Text 8"/>
          <p:cNvSpPr/>
          <p:nvPr/>
        </p:nvSpPr>
        <p:spPr>
          <a:xfrm>
            <a:off x="6309360" y="2926080"/>
            <a:ext cx="5029200" cy="2468880"/>
          </a:xfrm>
          <a:prstGeom prst="rect">
            <a:avLst/>
          </a:prstGeom>
          <a:noFill/>
          <a:ln/>
        </p:spPr>
        <p:txBody>
          <a:bodyPr wrap="square" rtlCol="0" anchor="ctr"/>
          <a:lstStyle/>
          <a:p>
            <a:pPr indent="0" marL="0">
              <a:buNone/>
            </a:pPr>
            <a:r>
              <a:rPr lang="en-US" sz="1350" dirty="0">
                <a:solidFill>
                  <a:srgbClr val="CADCFC"/>
                </a:solidFill>
                <a:latin typeface="Calibri" pitchFamily="34" charset="0"/>
                <a:ea typeface="Calibri" pitchFamily="34" charset="-122"/>
                <a:cs typeface="Calibri" pitchFamily="34" charset="-120"/>
              </a:rPr>
              <a:t>The feature set includes nationality, parents' education/occupation, gender, and debtor status. We have not checked subgroup error rates. If this model ever informed real advising decisions, closing this gap comes before anything else on the roadmap -- not after.</a:t>
            </a:r>
            <a:endParaRPr lang="en-US" sz="1350" dirty="0"/>
          </a:p>
        </p:txBody>
      </p:sp>
      <p:sp>
        <p:nvSpPr>
          <p:cNvPr id="11" name="Text 9"/>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11</a:t>
            </a:r>
            <a:endParaRPr lang="en-US" sz="1000" dirty="0"/>
          </a:p>
        </p:txBody>
      </p:sp>
      <p:sp>
        <p:nvSpPr>
          <p:cNvPr id="12" name="Text 10"/>
          <p:cNvSpPr/>
          <p:nvPr/>
        </p:nvSpPr>
        <p:spPr>
          <a:xfrm>
            <a:off x="548640" y="6355080"/>
            <a:ext cx="5486400" cy="320040"/>
          </a:xfrm>
          <a:prstGeom prst="rect">
            <a:avLst/>
          </a:prstGeom>
          <a:noFill/>
          <a:ln/>
        </p:spPr>
        <p:txBody>
          <a:bodyPr wrap="square" rtlCol="0" anchor="ctr"/>
          <a:lstStyle/>
          <a:p>
            <a:pPr algn="l" indent="0" marL="0">
              <a:buNone/>
            </a:pPr>
            <a:r>
              <a:rPr lang="en-US" sz="1100" b="1" dirty="0">
                <a:solidFill>
                  <a:srgbClr val="1C7293"/>
                </a:solidFill>
                <a:latin typeface="Calibri" pitchFamily="34" charset="0"/>
                <a:ea typeface="Calibri" pitchFamily="34" charset="-122"/>
                <a:cs typeface="Calibri" pitchFamily="34" charset="-120"/>
              </a:rPr>
              <a:t>Jaskaran Singh  </a:t>
            </a:r>
            <a:pPr algn="l" indent="0" marL="0">
              <a:buNone/>
            </a:pPr>
            <a:r>
              <a:rPr lang="en-US" sz="1100" i="1" dirty="0">
                <a:solidFill>
                  <a:srgbClr val="6B7A88"/>
                </a:solidFill>
                <a:latin typeface="Calibri" pitchFamily="34" charset="0"/>
                <a:ea typeface="Calibri" pitchFamily="34" charset="-122"/>
                <a:cs typeface="Calibri" pitchFamily="34" charset="-120"/>
              </a:rPr>
              <a:t>Project Lead</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2545"/>
        </a:solidFill>
      </p:bgPr>
    </p:bg>
    <p:spTree>
      <p:nvGrpSpPr>
        <p:cNvPr id="1" name=""/>
        <p:cNvGrpSpPr/>
        <p:nvPr/>
      </p:nvGrpSpPr>
      <p:grpSpPr>
        <a:xfrm>
          <a:off x="0" y="0"/>
          <a:ext cx="0" cy="0"/>
          <a:chOff x="0" y="0"/>
          <a:chExt cx="0" cy="0"/>
        </a:xfrm>
      </p:grpSpPr>
      <p:sp>
        <p:nvSpPr>
          <p:cNvPr id="2" name="Shape 0"/>
          <p:cNvSpPr/>
          <p:nvPr/>
        </p:nvSpPr>
        <p:spPr>
          <a:xfrm>
            <a:off x="8778240" y="3200400"/>
            <a:ext cx="5486400" cy="5486400"/>
          </a:xfrm>
          <a:prstGeom prst="ellipse">
            <a:avLst/>
          </a:prstGeom>
          <a:solidFill>
            <a:srgbClr val="1C7293">
              <a:alpha val="45000"/>
            </a:srgbClr>
          </a:solidFill>
          <a:ln/>
        </p:spPr>
      </p:sp>
      <p:sp>
        <p:nvSpPr>
          <p:cNvPr id="3" name="Text 1"/>
          <p:cNvSpPr/>
          <p:nvPr/>
        </p:nvSpPr>
        <p:spPr>
          <a:xfrm>
            <a:off x="731520" y="1005840"/>
            <a:ext cx="5486400" cy="365760"/>
          </a:xfrm>
          <a:prstGeom prst="rect">
            <a:avLst/>
          </a:prstGeom>
          <a:noFill/>
          <a:ln/>
        </p:spPr>
        <p:txBody>
          <a:bodyPr wrap="square" rtlCol="0" anchor="ctr"/>
          <a:lstStyle/>
          <a:p>
            <a:pPr indent="0" marL="0">
              <a:buNone/>
            </a:pPr>
            <a:r>
              <a:rPr lang="en-US" sz="1300" b="1" spc="200" kern="0" dirty="0">
                <a:solidFill>
                  <a:srgbClr val="E8A33D"/>
                </a:solidFill>
                <a:latin typeface="Calibri" pitchFamily="34" charset="0"/>
                <a:ea typeface="Calibri" pitchFamily="34" charset="-122"/>
                <a:cs typeface="Calibri" pitchFamily="34" charset="-120"/>
              </a:rPr>
              <a:t>WRAP-UP</a:t>
            </a:r>
            <a:endParaRPr lang="en-US" sz="1300" dirty="0"/>
          </a:p>
        </p:txBody>
      </p:sp>
      <p:sp>
        <p:nvSpPr>
          <p:cNvPr id="4" name="Text 2"/>
          <p:cNvSpPr/>
          <p:nvPr/>
        </p:nvSpPr>
        <p:spPr>
          <a:xfrm>
            <a:off x="731520" y="1417320"/>
            <a:ext cx="914400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Phase 2 Actually Shipped</a:t>
            </a:r>
            <a:endParaRPr lang="en-US" sz="3200" dirty="0"/>
          </a:p>
        </p:txBody>
      </p:sp>
      <p:sp>
        <p:nvSpPr>
          <p:cNvPr id="5" name="Text 3"/>
          <p:cNvSpPr/>
          <p:nvPr/>
        </p:nvSpPr>
        <p:spPr>
          <a:xfrm>
            <a:off x="731520" y="2468880"/>
            <a:ext cx="6858000" cy="2011680"/>
          </a:xfrm>
          <a:prstGeom prst="rect">
            <a:avLst/>
          </a:prstGeom>
          <a:noFill/>
          <a:ln/>
        </p:spPr>
        <p:txBody>
          <a:bodyPr wrap="square" rtlCol="0" anchor="ctr"/>
          <a:lstStyle/>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Live FastAPI service on Render</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CI/CD gated on lint + tests, real rollback-by-default</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EvidentlyAI drift monitoring + a working Continuous Training loop</a:t>
            </a:r>
            <a:endParaRPr lang="en-US" sz="1500" dirty="0"/>
          </a:p>
          <a:p>
            <a:pPr marL="342900" indent="-342900">
              <a:spcAft>
                <a:spcPts val="1200"/>
              </a:spcAft>
              <a:buSzPct val="100000"/>
              <a:buChar char="✓"/>
            </a:pPr>
            <a:r>
              <a:rPr lang="en-US" sz="1500" dirty="0">
                <a:solidFill>
                  <a:srgbClr val="FFFFFF"/>
                </a:solidFill>
                <a:latin typeface="Calibri" pitchFamily="34" charset="0"/>
                <a:ea typeface="Calibri" pitchFamily="34" charset="-122"/>
                <a:cs typeface="Calibri" pitchFamily="34" charset="-120"/>
              </a:rPr>
              <a:t>Model Card with an honestly-flagged fairness gap</a:t>
            </a:r>
            <a:endParaRPr lang="en-US" sz="1500" dirty="0"/>
          </a:p>
        </p:txBody>
      </p:sp>
      <p:sp>
        <p:nvSpPr>
          <p:cNvPr id="6" name="Shape 4"/>
          <p:cNvSpPr/>
          <p:nvPr/>
        </p:nvSpPr>
        <p:spPr>
          <a:xfrm>
            <a:off x="731520" y="4663440"/>
            <a:ext cx="9601200" cy="1188720"/>
          </a:xfrm>
          <a:prstGeom prst="roundRect">
            <a:avLst>
              <a:gd name="adj" fmla="val 7692"/>
            </a:avLst>
          </a:prstGeom>
          <a:solidFill>
            <a:srgbClr val="065A82">
              <a:alpha val="80000"/>
            </a:srgbClr>
          </a:solidFill>
          <a:ln w="12700">
            <a:solidFill>
              <a:srgbClr val="1C7293"/>
            </a:solidFill>
            <a:prstDash val="solid"/>
          </a:ln>
        </p:spPr>
      </p:sp>
      <p:sp>
        <p:nvSpPr>
          <p:cNvPr id="7" name="Text 5"/>
          <p:cNvSpPr/>
          <p:nvPr/>
        </p:nvSpPr>
        <p:spPr>
          <a:xfrm>
            <a:off x="1005840" y="4800600"/>
            <a:ext cx="9052560" cy="914400"/>
          </a:xfrm>
          <a:prstGeom prst="rect">
            <a:avLst/>
          </a:prstGeom>
          <a:noFill/>
          <a:ln/>
        </p:spPr>
        <p:txBody>
          <a:bodyPr wrap="square" rtlCol="0" anchor="ctr"/>
          <a:lstStyle/>
          <a:p>
            <a:pPr indent="0" marL="0">
              <a:buNone/>
            </a:pPr>
            <a:r>
              <a:rPr lang="en-US" sz="1300" i="1" dirty="0">
                <a:solidFill>
                  <a:srgbClr val="CADCFC"/>
                </a:solidFill>
                <a:latin typeface="Calibri" pitchFamily="34" charset="0"/>
                <a:ea typeface="Calibri" pitchFamily="34" charset="-122"/>
                <a:cs typeface="Calibri" pitchFamily="34" charset="-120"/>
              </a:rPr>
              <a:t>If we kept going: a real DVC remote (no more committing data/model to git directly), a proper fairness audit, and canary rollout instead of a single deploy hook.</a:t>
            </a:r>
            <a:endParaRPr lang="en-US" sz="1300" dirty="0"/>
          </a:p>
        </p:txBody>
      </p:sp>
      <p:sp>
        <p:nvSpPr>
          <p:cNvPr id="8" name="Text 6"/>
          <p:cNvSpPr/>
          <p:nvPr/>
        </p:nvSpPr>
        <p:spPr>
          <a:xfrm>
            <a:off x="731520" y="6126480"/>
            <a:ext cx="7315200" cy="45720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Thank you -- questions welcome.</a:t>
            </a:r>
            <a:endParaRPr lang="en-US" sz="1600" dirty="0"/>
          </a:p>
        </p:txBody>
      </p:sp>
      <p:sp>
        <p:nvSpPr>
          <p:cNvPr id="9" name="Text 7"/>
          <p:cNvSpPr/>
          <p:nvPr/>
        </p:nvSpPr>
        <p:spPr>
          <a:xfrm>
            <a:off x="11612880" y="6446520"/>
            <a:ext cx="457200" cy="320040"/>
          </a:xfrm>
          <a:prstGeom prst="rect">
            <a:avLst/>
          </a:prstGeom>
          <a:noFill/>
          <a:ln/>
        </p:spPr>
        <p:txBody>
          <a:bodyPr wrap="square" rtlCol="0" anchor="ctr"/>
          <a:lstStyle/>
          <a:p>
            <a:pPr algn="r" indent="0" marL="0">
              <a:buNone/>
            </a:pPr>
            <a:r>
              <a:rPr lang="en-US" sz="1000" dirty="0">
                <a:solidFill>
                  <a:srgbClr val="6B7A8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MLOps Phase 2 - Student Dropout Predictor</dc:title>
  <dc:subject>PptxGenJS Presentation</dc:subject>
  <dc:creator>Jaskaran Singh &amp; Eric Prakashbhai Rathod</dc:creator>
  <cp:lastModifiedBy>Jaskaran Singh &amp; Eric Prakashbhai Rathod</cp:lastModifiedBy>
  <cp:revision>1</cp:revision>
  <dcterms:created xsi:type="dcterms:W3CDTF">2026-08-03T01:00:08Z</dcterms:created>
  <dcterms:modified xsi:type="dcterms:W3CDTF">2026-08-03T01:00:08Z</dcterms:modified>
</cp:coreProperties>
</file>